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875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1828800" y="-8046720"/>
            <a:ext cx="20208240" cy="20208240"/>
          </a:xfrm>
          <a:prstGeom prst="ellipse">
            <a:avLst/>
          </a:prstGeom>
          <a:solidFill>
            <a:srgbClr val="A855F7">
              <a:alpha val="9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11880" y="-6263640"/>
            <a:ext cx="16642080" cy="16642080"/>
          </a:xfrm>
          <a:prstGeom prst="ellipse">
            <a:avLst/>
          </a:prstGeom>
          <a:solidFill>
            <a:srgbClr val="A855F7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94960" y="-4480560"/>
            <a:ext cx="13075920" cy="13075920"/>
          </a:xfrm>
          <a:prstGeom prst="ellipse">
            <a:avLst/>
          </a:prstGeom>
          <a:solidFill>
            <a:srgbClr val="A855F7">
              <a:alpha val="8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78040" y="-2697480"/>
            <a:ext cx="9509760" cy="9509760"/>
          </a:xfrm>
          <a:prstGeom prst="ellipse">
            <a:avLst/>
          </a:prstGeom>
          <a:solidFill>
            <a:srgbClr val="A855F7">
              <a:alpha val="8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961120" y="-914400"/>
            <a:ext cx="5943600" cy="5943600"/>
          </a:xfrm>
          <a:prstGeom prst="ellipse">
            <a:avLst/>
          </a:prstGeom>
          <a:solidFill>
            <a:srgbClr val="A855F7">
              <a:alpha val="8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6583680" y="-822960"/>
            <a:ext cx="13990320" cy="13990320"/>
          </a:xfrm>
          <a:prstGeom prst="ellipse">
            <a:avLst/>
          </a:prstGeom>
          <a:solidFill>
            <a:srgbClr val="06B6D4">
              <a:alpha val="9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5349240" y="411480"/>
            <a:ext cx="11521440" cy="11521440"/>
          </a:xfrm>
          <a:prstGeom prst="ellipse">
            <a:avLst/>
          </a:prstGeom>
          <a:solidFill>
            <a:srgbClr val="06B6D4">
              <a:alpha val="9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4114800" y="1645920"/>
            <a:ext cx="9052560" cy="9052560"/>
          </a:xfrm>
          <a:prstGeom prst="ellipse">
            <a:avLst/>
          </a:prstGeom>
          <a:solidFill>
            <a:srgbClr val="06B6D4">
              <a:alpha val="9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-2880360" y="2880360"/>
            <a:ext cx="6583680" cy="6583680"/>
          </a:xfrm>
          <a:prstGeom prst="ellipse">
            <a:avLst/>
          </a:prstGeom>
          <a:solidFill>
            <a:srgbClr val="06B6D4">
              <a:alpha val="8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-1645920" y="4114800"/>
            <a:ext cx="4114800" cy="4114800"/>
          </a:xfrm>
          <a:prstGeom prst="ellipse">
            <a:avLst/>
          </a:prstGeom>
          <a:solidFill>
            <a:srgbClr val="06B6D4">
              <a:alpha val="8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0" y="1463040"/>
            <a:ext cx="10881360" cy="10881360"/>
          </a:xfrm>
          <a:prstGeom prst="ellipse">
            <a:avLst/>
          </a:prstGeom>
          <a:solidFill>
            <a:srgbClr val="6366F1">
              <a:alpha val="9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2423160"/>
            <a:ext cx="8961120" cy="8961120"/>
          </a:xfrm>
          <a:prstGeom prst="ellipse">
            <a:avLst/>
          </a:prstGeom>
          <a:solidFill>
            <a:srgbClr val="6366F1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052560" y="3383280"/>
            <a:ext cx="7040880" cy="7040880"/>
          </a:xfrm>
          <a:prstGeom prst="ellipse">
            <a:avLst/>
          </a:prstGeom>
          <a:solidFill>
            <a:srgbClr val="6366F1">
              <a:alpha val="9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12680" y="4343400"/>
            <a:ext cx="5120640" cy="5120640"/>
          </a:xfrm>
          <a:prstGeom prst="ellipse">
            <a:avLst/>
          </a:prstGeom>
          <a:solidFill>
            <a:srgbClr val="6366F1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0" y="5303520"/>
            <a:ext cx="3200400" cy="3200400"/>
          </a:xfrm>
          <a:prstGeom prst="ellipse">
            <a:avLst/>
          </a:prstGeom>
          <a:solidFill>
            <a:srgbClr val="6366F1">
              <a:alpha val="8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801600" y="0"/>
            <a:ext cx="4572" cy="6858000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0" y="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73152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146304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219456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0" y="292608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0" y="365760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38912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0" y="512064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0" y="585216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0" y="6583680"/>
            <a:ext cx="12192000" cy="4572"/>
          </a:xfrm>
          <a:prstGeom prst="rect">
            <a:avLst/>
          </a:prstGeom>
          <a:solidFill>
            <a:srgbClr val="FFFFFF">
              <a:alpha val="975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685800"/>
            <a:ext cx="3657600" cy="329184"/>
          </a:xfrm>
          <a:prstGeom prst="roundRect">
            <a:avLst>
              <a:gd name="adj" fmla="val 19444"/>
            </a:avLst>
          </a:prstGeom>
          <a:solidFill>
            <a:srgbClr val="22D3EE">
              <a:alpha val="7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858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WORKSPACE ADMIN PITCH  ·  v3.0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1170432"/>
            <a:ext cx="1188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</a:t>
            </a:r>
            <a:endParaRPr lang="en-US" sz="7600" dirty="0"/>
          </a:p>
        </p:txBody>
      </p:sp>
      <p:sp>
        <p:nvSpPr>
          <p:cNvPr id="46" name="Text 44"/>
          <p:cNvSpPr/>
          <p:nvPr/>
        </p:nvSpPr>
        <p:spPr>
          <a:xfrm>
            <a:off x="457200" y="2331720"/>
            <a:ext cx="11887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Hub</a:t>
            </a:r>
            <a:endParaRPr lang="en-US" sz="6200" dirty="0"/>
          </a:p>
        </p:txBody>
      </p:sp>
      <p:sp>
        <p:nvSpPr>
          <p:cNvPr id="47" name="Shape 45"/>
          <p:cNvSpPr/>
          <p:nvPr/>
        </p:nvSpPr>
        <p:spPr>
          <a:xfrm>
            <a:off x="457200" y="3566160"/>
            <a:ext cx="6858000" cy="25603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3703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India's Smartest CBT Platform for Institutes &amp; Coaching Centres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365760" y="4572000"/>
            <a:ext cx="1874520" cy="1188720"/>
          </a:xfrm>
          <a:prstGeom prst="roundRect">
            <a:avLst>
              <a:gd name="adj" fmla="val 1076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663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365760" y="5120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MCQ Generator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359152" y="4572000"/>
            <a:ext cx="1874520" cy="1188720"/>
          </a:xfrm>
          <a:prstGeom prst="roundRect">
            <a:avLst>
              <a:gd name="adj" fmla="val 1076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59152" y="4663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Anti-Cheat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2359152" y="5120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Guard + Draft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52544" y="4572000"/>
            <a:ext cx="1874520" cy="1188720"/>
          </a:xfrm>
          <a:prstGeom prst="roundRect">
            <a:avLst>
              <a:gd name="adj" fmla="val 1076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52544" y="4663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Modes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4352544" y="5120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Publish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345936" y="4572000"/>
            <a:ext cx="1874520" cy="1188720"/>
          </a:xfrm>
          <a:prstGeom prst="roundRect">
            <a:avLst>
              <a:gd name="adj" fmla="val 1076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45936" y="4663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6345936" y="5120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339328" y="4572000"/>
            <a:ext cx="1874520" cy="1188720"/>
          </a:xfrm>
          <a:prstGeom prst="roundRect">
            <a:avLst>
              <a:gd name="adj" fmla="val 1076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39328" y="4663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</a:t>
            </a:r>
            <a:endParaRPr lang="en-US" sz="1250" dirty="0"/>
          </a:p>
        </p:txBody>
      </p:sp>
      <p:sp>
        <p:nvSpPr>
          <p:cNvPr id="63" name="Text 61"/>
          <p:cNvSpPr/>
          <p:nvPr/>
        </p:nvSpPr>
        <p:spPr>
          <a:xfrm>
            <a:off x="8339328" y="5120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Agreement Flow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0332720" y="4572000"/>
            <a:ext cx="1874520" cy="1188720"/>
          </a:xfrm>
          <a:prstGeom prst="roundRect">
            <a:avLst>
              <a:gd name="adj" fmla="val 1076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32720" y="4663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10332720" y="51206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57200" y="635508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  ·  Confidential  ·  For Authorized Recipients Only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029200" y="-4572000"/>
            <a:ext cx="15544800" cy="15544800"/>
          </a:xfrm>
          <a:prstGeom prst="ellipse">
            <a:avLst/>
          </a:prstGeom>
          <a:solidFill>
            <a:srgbClr val="F43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3200400"/>
            <a:ext cx="12801600" cy="12801600"/>
          </a:xfrm>
          <a:prstGeom prst="ellipse">
            <a:avLst/>
          </a:prstGeom>
          <a:solidFill>
            <a:srgbClr val="F43F5E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-1828800"/>
            <a:ext cx="10058400" cy="10058400"/>
          </a:xfrm>
          <a:prstGeom prst="ellipse">
            <a:avLst/>
          </a:prstGeom>
          <a:solidFill>
            <a:srgbClr val="F43F5E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-457200"/>
            <a:ext cx="7315200" cy="7315200"/>
          </a:xfrm>
          <a:prstGeom prst="ellipse">
            <a:avLst/>
          </a:prstGeom>
          <a:solidFill>
            <a:srgbClr val="F43F5E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914400"/>
            <a:ext cx="4572000" cy="4572000"/>
          </a:xfrm>
          <a:prstGeom prst="ellipse">
            <a:avLst/>
          </a:prstGeom>
          <a:solidFill>
            <a:srgbClr val="F43F5E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FB7185">
              <a:alpha val="78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THE PROBLEM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Every Institute Faces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Running exams today is fragmented, expensive, and error-prone.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3749040" cy="1490472"/>
          </a:xfrm>
          <a:prstGeom prst="roundRect">
            <a:avLst>
              <a:gd name="adj" fmla="val 858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482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F43F5E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11680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Exams are Slow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252374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Printing, distribution, manual checking — wasted hours for every exam cycle.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43400" y="1920240"/>
            <a:ext cx="3749040" cy="1490472"/>
          </a:xfrm>
          <a:prstGeom prst="roundRect">
            <a:avLst>
              <a:gd name="adj" fmla="val 858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20482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F43F5E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2011680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Tools, Poor UX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80560" y="252374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platforms are overly complex; teachers waste time on setup instead of teaching.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21040" y="1920240"/>
            <a:ext cx="3749040" cy="1490472"/>
          </a:xfrm>
          <a:prstGeom prst="roundRect">
            <a:avLst>
              <a:gd name="adj" fmla="val 858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048256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F43F5E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2011680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89720" y="20482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Per-Student Cost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58200" y="2523744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Legacy LMS systems charge per student seat — pricing that doesn't scale for growing institutes.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547872"/>
            <a:ext cx="3749040" cy="1490472"/>
          </a:xfrm>
          <a:prstGeom prst="roundRect">
            <a:avLst>
              <a:gd name="adj" fmla="val 858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67588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F43F5E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39312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34440" y="36758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 Analytics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415137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way to track student-wise performance, topic-wise weak spots, or cohort pass rates automatically.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3547872"/>
            <a:ext cx="3749040" cy="1490472"/>
          </a:xfrm>
          <a:prstGeom prst="roundRect">
            <a:avLst>
              <a:gd name="adj" fmla="val 858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80560" y="367588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F43F5E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639312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😤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12080" y="36758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Result Processing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480560" y="415137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calculating marks, generating score sheets, and sending results takes days.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321040" y="3547872"/>
            <a:ext cx="3749040" cy="1490472"/>
          </a:xfrm>
          <a:prstGeom prst="roundRect">
            <a:avLst>
              <a:gd name="adj" fmla="val 8589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58200" y="3675888"/>
            <a:ext cx="621792" cy="621792"/>
          </a:xfrm>
          <a:prstGeom prst="roundRect">
            <a:avLst>
              <a:gd name="adj" fmla="val 11765"/>
            </a:avLst>
          </a:prstGeom>
          <a:solidFill>
            <a:srgbClr val="F43F5E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58200" y="3639312"/>
            <a:ext cx="621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9189720" y="367588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Exam Integrity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458200" y="4151376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tab monitoring, no time locks, no draft saving — students can easily cheat or lose work.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120640" y="-3566160"/>
            <a:ext cx="13990320" cy="13990320"/>
          </a:xfrm>
          <a:prstGeom prst="ellipse">
            <a:avLst/>
          </a:prstGeom>
          <a:solidFill>
            <a:srgbClr val="A855F7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-2331720"/>
            <a:ext cx="11521440" cy="11521440"/>
          </a:xfrm>
          <a:prstGeom prst="ellipse">
            <a:avLst/>
          </a:prstGeom>
          <a:solidFill>
            <a:srgbClr val="A855F7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-1097280"/>
            <a:ext cx="9052560" cy="9052560"/>
          </a:xfrm>
          <a:prstGeom prst="ellipse">
            <a:avLst/>
          </a:prstGeom>
          <a:solidFill>
            <a:srgbClr val="A855F7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23960" y="137160"/>
            <a:ext cx="6583680" cy="658368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371600"/>
            <a:ext cx="4114800" cy="41148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C084FC">
              <a:alpha val="7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OUR SOLUTION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Every Role. Full Control.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Designed for institutes from 50 to 50,000 students.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47472" y="1920240"/>
            <a:ext cx="2834640" cy="4297680"/>
          </a:xfrm>
          <a:prstGeom prst="roundRect">
            <a:avLst>
              <a:gd name="adj" fmla="val 4516"/>
            </a:avLst>
          </a:prstGeom>
          <a:solidFill>
            <a:srgbClr val="0B1225">
              <a:alpha val="3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" y="1014984"/>
            <a:ext cx="3730752" cy="3730752"/>
          </a:xfrm>
          <a:prstGeom prst="ellipse">
            <a:avLst/>
          </a:prstGeom>
          <a:solidFill>
            <a:srgbClr val="6366F1">
              <a:alpha val="9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1344168"/>
            <a:ext cx="3072384" cy="3072384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" y="1673352"/>
            <a:ext cx="2414016" cy="2414016"/>
          </a:xfrm>
          <a:prstGeom prst="ellipse">
            <a:avLst/>
          </a:prstGeom>
          <a:solidFill>
            <a:srgbClr val="6366F1">
              <a:alpha val="8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207008" y="2002536"/>
            <a:ext cx="1755648" cy="1755648"/>
          </a:xfrm>
          <a:prstGeom prst="ellipse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36192" y="2331720"/>
            <a:ext cx="1097280" cy="1097280"/>
          </a:xfrm>
          <a:prstGeom prst="ellipse">
            <a:avLst/>
          </a:prstGeom>
          <a:solidFill>
            <a:srgbClr val="6366F1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2103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67512" y="3154680"/>
            <a:ext cx="2194560" cy="25603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32735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" y="38404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owner. Manages all workspaces, subscriptions, billing, and global settings.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19272" y="1920240"/>
            <a:ext cx="2834640" cy="4297680"/>
          </a:xfrm>
          <a:prstGeom prst="roundRect">
            <a:avLst>
              <a:gd name="adj" fmla="val 4516"/>
            </a:avLst>
          </a:prstGeom>
          <a:solidFill>
            <a:srgbClr val="0B1225">
              <a:alpha val="3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91256" y="1014984"/>
            <a:ext cx="3730752" cy="3730752"/>
          </a:xfrm>
          <a:prstGeom prst="ellipse">
            <a:avLst/>
          </a:prstGeom>
          <a:solidFill>
            <a:srgbClr val="C084FC">
              <a:alpha val="9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520440" y="1344168"/>
            <a:ext cx="3072384" cy="3072384"/>
          </a:xfrm>
          <a:prstGeom prst="ellipse">
            <a:avLst/>
          </a:prstGeom>
          <a:solidFill>
            <a:srgbClr val="C084FC">
              <a:alpha val="9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49624" y="1673352"/>
            <a:ext cx="2414016" cy="2414016"/>
          </a:xfrm>
          <a:prstGeom prst="ellipse">
            <a:avLst/>
          </a:prstGeom>
          <a:solidFill>
            <a:srgbClr val="C084FC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178808" y="2002536"/>
            <a:ext cx="1755648" cy="1755648"/>
          </a:xfrm>
          <a:prstGeom prst="ellipse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07992" y="2331720"/>
            <a:ext cx="1097280" cy="1097280"/>
          </a:xfrm>
          <a:prstGeom prst="ellipse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319272" y="2103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3639312" y="3154680"/>
            <a:ext cx="2194560" cy="25603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0" name="Text 28"/>
          <p:cNvSpPr/>
          <p:nvPr/>
        </p:nvSpPr>
        <p:spPr>
          <a:xfrm>
            <a:off x="3319272" y="32735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Admin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83864" y="38404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Institute owner. Full control over teachers, exams, students, results &amp; analytics.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91072" y="1920240"/>
            <a:ext cx="2834640" cy="4297680"/>
          </a:xfrm>
          <a:prstGeom prst="roundRect">
            <a:avLst>
              <a:gd name="adj" fmla="val 4516"/>
            </a:avLst>
          </a:prstGeom>
          <a:solidFill>
            <a:srgbClr val="0B1225">
              <a:alpha val="3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63056" y="1014984"/>
            <a:ext cx="3730752" cy="3730752"/>
          </a:xfrm>
          <a:prstGeom prst="ellipse">
            <a:avLst/>
          </a:prstGeom>
          <a:solidFill>
            <a:srgbClr val="34D399">
              <a:alpha val="9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92240" y="1344168"/>
            <a:ext cx="3072384" cy="3072384"/>
          </a:xfrm>
          <a:prstGeom prst="ellipse">
            <a:avLst/>
          </a:prstGeom>
          <a:solidFill>
            <a:srgbClr val="34D399">
              <a:alpha val="9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821424" y="1673352"/>
            <a:ext cx="2414016" cy="2414016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150608" y="2002536"/>
            <a:ext cx="1755648" cy="1755648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479792" y="2331720"/>
            <a:ext cx="1097280" cy="1097280"/>
          </a:xfrm>
          <a:prstGeom prst="ellipse">
            <a:avLst/>
          </a:prstGeom>
          <a:solidFill>
            <a:srgbClr val="34D399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2103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👩‍🏫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6611112" y="3154680"/>
            <a:ext cx="2194560" cy="25603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0" name="Text 38"/>
          <p:cNvSpPr/>
          <p:nvPr/>
        </p:nvSpPr>
        <p:spPr>
          <a:xfrm>
            <a:off x="6291072" y="32735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55664" y="38404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topics, uploads questions (bulk AI), builds exams, and manages results.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262872" y="1920240"/>
            <a:ext cx="2834640" cy="4297680"/>
          </a:xfrm>
          <a:prstGeom prst="roundRect">
            <a:avLst>
              <a:gd name="adj" fmla="val 4516"/>
            </a:avLst>
          </a:prstGeom>
          <a:solidFill>
            <a:srgbClr val="0B1225">
              <a:alpha val="3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34856" y="1014984"/>
            <a:ext cx="3730752" cy="3730752"/>
          </a:xfrm>
          <a:prstGeom prst="ellipse">
            <a:avLst/>
          </a:prstGeom>
          <a:solidFill>
            <a:srgbClr val="FBBF24">
              <a:alpha val="9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464040" y="1344168"/>
            <a:ext cx="3072384" cy="3072384"/>
          </a:xfrm>
          <a:prstGeom prst="ellipse">
            <a:avLst/>
          </a:prstGeom>
          <a:solidFill>
            <a:srgbClr val="FBBF24">
              <a:alpha val="9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793224" y="1673352"/>
            <a:ext cx="2414016" cy="2414016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122408" y="2002536"/>
            <a:ext cx="1755648" cy="1755648"/>
          </a:xfrm>
          <a:prstGeom prst="ellipse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451592" y="2331720"/>
            <a:ext cx="1097280" cy="1097280"/>
          </a:xfrm>
          <a:prstGeom prst="ellipse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262872" y="210312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🎓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9582912" y="3154680"/>
            <a:ext cx="2194560" cy="25603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0" name="Text 48"/>
          <p:cNvSpPr/>
          <p:nvPr/>
        </p:nvSpPr>
        <p:spPr>
          <a:xfrm>
            <a:off x="9262872" y="32735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427464" y="384048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Takes CBT exams, tracks results, gets AI-recommended next exams.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6400800"/>
            <a:ext cx="11475720" cy="475488"/>
          </a:xfrm>
          <a:prstGeom prst="roundRect">
            <a:avLst>
              <a:gd name="adj" fmla="val 26923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6400800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  Multi-Tenant Architecture  ·  Each workspace is fully isolated  ·  Role-based access via Clerk OAuth  ·  Single codebase, unlimited institutes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943600" y="-1828800"/>
            <a:ext cx="15544800" cy="15544800"/>
          </a:xfrm>
          <a:prstGeom prst="ellipse">
            <a:avLst/>
          </a:prstGeom>
          <a:solidFill>
            <a:srgbClr val="06B6D4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457200"/>
            <a:ext cx="12801600" cy="12801600"/>
          </a:xfrm>
          <a:prstGeom prst="ellipse">
            <a:avLst/>
          </a:prstGeom>
          <a:solidFill>
            <a:srgbClr val="06B6D4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914400"/>
            <a:ext cx="10058400" cy="10058400"/>
          </a:xfrm>
          <a:prstGeom prst="ellipse">
            <a:avLst/>
          </a:prstGeom>
          <a:solidFill>
            <a:srgbClr val="06B6D4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2286000"/>
            <a:ext cx="7315200" cy="731520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3657600"/>
            <a:ext cx="4572000" cy="457200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22D3EE">
              <a:alpha val="7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EXAM MANAGEMENT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Builder — Full Lifecycle Control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Design, schedule, secure, and control every aspect of your CBT exams.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Rich Exam Setup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505456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60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exam name, description, logo &amp; contact info on every exam.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43400" y="1920240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 Timed Sessions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26280" y="2505456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2560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exact duration in minutes. Students see a live countdown.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21040" y="1920240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0" y="20299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Scheduled Windows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503920" y="2505456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5603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 startTime &amp; endTime — exams lock automatically outside windows.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456432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661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Password Protection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041648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0965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 access to invited-only sessions with a secret password.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43400" y="3456432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35661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Public / Private Toggle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26280" y="4041648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40965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for all students or restricted to your workspace only.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21040" y="3456432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5661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Live Status Control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03920" y="4041648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096512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Instantly switch between ACTIVE, PAUSED, or INACTIVE states.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992624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1023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➕  Custom Marks Per Q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577840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563270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marks per question for fully weighted scoring.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43400" y="4992624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26280" y="51023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➖  Negative Marking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526280" y="5577840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4526280" y="563270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negative marks with a configurable deduction value.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321040" y="4992624"/>
            <a:ext cx="3749040" cy="1417320"/>
          </a:xfrm>
          <a:prstGeom prst="roundRect">
            <a:avLst>
              <a:gd name="adj" fmla="val 903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510235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 Question Compiler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503920" y="5577840"/>
            <a:ext cx="3383280" cy="16459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7" name="Text 45"/>
          <p:cNvSpPr/>
          <p:nvPr/>
        </p:nvSpPr>
        <p:spPr>
          <a:xfrm>
            <a:off x="8503920" y="563270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questions by topic from your bank — drag, filter, publish.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3931920" y="640080"/>
            <a:ext cx="12435840" cy="12435840"/>
          </a:xfrm>
          <a:prstGeom prst="ellipse">
            <a:avLst/>
          </a:prstGeom>
          <a:solidFill>
            <a:srgbClr val="A855F7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834640" y="1737360"/>
            <a:ext cx="10241280" cy="10241280"/>
          </a:xfrm>
          <a:prstGeom prst="ellipse">
            <a:avLst/>
          </a:prstGeom>
          <a:solidFill>
            <a:srgbClr val="A855F7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737360" y="2834640"/>
            <a:ext cx="8046720" cy="8046720"/>
          </a:xfrm>
          <a:prstGeom prst="ellipse">
            <a:avLst/>
          </a:prstGeom>
          <a:solidFill>
            <a:srgbClr val="A855F7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640080" y="3931920"/>
            <a:ext cx="5852160" cy="585216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5029200"/>
            <a:ext cx="3657600" cy="36576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-2926080"/>
            <a:ext cx="10881360" cy="10881360"/>
          </a:xfrm>
          <a:prstGeom prst="ellipse">
            <a:avLst/>
          </a:prstGeom>
          <a:solidFill>
            <a:srgbClr val="6366F1">
              <a:alpha val="9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92440" y="-1965960"/>
            <a:ext cx="8961120" cy="8961120"/>
          </a:xfrm>
          <a:prstGeom prst="ellipse">
            <a:avLst/>
          </a:prstGeom>
          <a:solidFill>
            <a:srgbClr val="6366F1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052560" y="-1005840"/>
            <a:ext cx="7040880" cy="7040880"/>
          </a:xfrm>
          <a:prstGeom prst="ellipse">
            <a:avLst/>
          </a:prstGeom>
          <a:solidFill>
            <a:srgbClr val="6366F1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12680" y="-45720"/>
            <a:ext cx="5120640" cy="5120640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914400"/>
            <a:ext cx="3200400" cy="3200400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C084FC">
              <a:alpha val="7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QUESTION BANK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 Bank + AI Bulk MCQ Generator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Build your MCQ library once, reuse forever. Let Gemini AI do the heavy lifting.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1920240"/>
            <a:ext cx="5394960" cy="4572000"/>
          </a:xfrm>
          <a:prstGeom prst="roundRect">
            <a:avLst>
              <a:gd name="adj" fmla="val 2800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0299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 Question Bank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" y="2560320"/>
            <a:ext cx="5029200" cy="25603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" y="28895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" y="27797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MCQ format: text, 4 options, 1 correct answer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" y="33467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" y="32369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 images to questions (image URL support)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" y="38039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36941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Organise by Topics — workspace-local or global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" y="42611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" y="41513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questions as Public (shared) or Private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" y="47183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29" name="Text 27"/>
          <p:cNvSpPr/>
          <p:nvPr/>
        </p:nvSpPr>
        <p:spPr>
          <a:xfrm>
            <a:off x="795528" y="46085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questions by topic when compiling exams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" y="51755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" y="50657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question import via AI in one click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" y="56327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" y="55229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question + topic limits enforced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" y="6089904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35" name="Text 33"/>
          <p:cNvSpPr/>
          <p:nvPr/>
        </p:nvSpPr>
        <p:spPr>
          <a:xfrm>
            <a:off x="795528" y="5980176"/>
            <a:ext cx="4736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Per-question marks and difficulty tagging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1920240"/>
            <a:ext cx="6126480" cy="4572000"/>
          </a:xfrm>
          <a:prstGeom prst="roundRect">
            <a:avLst>
              <a:gd name="adj" fmla="val 2800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202996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 AI Bulk MCQ Generator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36208" y="2560320"/>
            <a:ext cx="5669280" cy="25603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9" name="Shape 37"/>
          <p:cNvSpPr/>
          <p:nvPr/>
        </p:nvSpPr>
        <p:spPr>
          <a:xfrm>
            <a:off x="6172200" y="2816352"/>
            <a:ext cx="530352" cy="457200"/>
          </a:xfrm>
          <a:prstGeom prst="roundRect">
            <a:avLst>
              <a:gd name="adj" fmla="val 14000"/>
            </a:avLst>
          </a:prstGeom>
          <a:solidFill>
            <a:srgbClr val="6366F1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2816352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12280" y="2834640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Topic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12280" y="3072384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any existing topic from your question bank.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72200" y="3529584"/>
            <a:ext cx="530352" cy="457200"/>
          </a:xfrm>
          <a:prstGeom prst="roundRect">
            <a:avLst>
              <a:gd name="adj" fmla="val 14000"/>
            </a:avLst>
          </a:prstGeom>
          <a:solidFill>
            <a:srgbClr val="6366F1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529584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812280" y="3547872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Prompt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812280" y="3785616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subject matter, difficulty level, or specific instructions.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72200" y="4242816"/>
            <a:ext cx="530352" cy="457200"/>
          </a:xfrm>
          <a:prstGeom prst="roundRect">
            <a:avLst>
              <a:gd name="adj" fmla="val 14000"/>
            </a:avLst>
          </a:prstGeom>
          <a:solidFill>
            <a:srgbClr val="6366F1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4242816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812280" y="4261104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Generates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6812280" y="4498848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AI creates N fully structured MCQs instantly.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72200" y="4956048"/>
            <a:ext cx="530352" cy="457200"/>
          </a:xfrm>
          <a:prstGeom prst="roundRect">
            <a:avLst>
              <a:gd name="adj" fmla="val 14000"/>
            </a:avLst>
          </a:prstGeom>
          <a:solidFill>
            <a:srgbClr val="6366F1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72200" y="4956048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12280" y="4974336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&amp; Save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812280" y="521208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Edit, discard, or approve — questions land directly in your bank.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172200" y="5669280"/>
            <a:ext cx="530352" cy="457200"/>
          </a:xfrm>
          <a:prstGeom prst="roundRect">
            <a:avLst>
              <a:gd name="adj" fmla="val 14000"/>
            </a:avLst>
          </a:prstGeom>
          <a:solidFill>
            <a:srgbClr val="6366F1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5669280"/>
            <a:ext cx="530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812280" y="5687568"/>
            <a:ext cx="5166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to Exam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812280" y="5925312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generated questions and publish your exam immediately.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6492240" y="-3108960"/>
            <a:ext cx="13990320" cy="13990320"/>
          </a:xfrm>
          <a:prstGeom prst="ellipse">
            <a:avLst/>
          </a:prstGeom>
          <a:solidFill>
            <a:srgbClr val="F43F5E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26680" y="-1874520"/>
            <a:ext cx="11521440" cy="11521440"/>
          </a:xfrm>
          <a:prstGeom prst="ellipse">
            <a:avLst/>
          </a:prstGeom>
          <a:solidFill>
            <a:srgbClr val="F43F5E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961120" y="-640080"/>
            <a:ext cx="9052560" cy="9052560"/>
          </a:xfrm>
          <a:prstGeom prst="ellipse">
            <a:avLst/>
          </a:prstGeom>
          <a:solidFill>
            <a:srgbClr val="F43F5E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195560" y="594360"/>
            <a:ext cx="6583680" cy="6583680"/>
          </a:xfrm>
          <a:prstGeom prst="ellipse">
            <a:avLst/>
          </a:prstGeom>
          <a:solidFill>
            <a:srgbClr val="F43F5E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1828800"/>
            <a:ext cx="4114800" cy="4114800"/>
          </a:xfrm>
          <a:prstGeom prst="ellipse">
            <a:avLst/>
          </a:prstGeom>
          <a:solidFill>
            <a:srgbClr val="F43F5E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FB7185">
              <a:alpha val="78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SECURITY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Integrity &amp; Security Controls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Every safeguard you need to run fair, tamper-resistant online exams.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020824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FB7185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98424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4168" y="20025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Password-Gated Access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2423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Exams require a secret password before students can start — perfect for private mock tests and paid batches.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1874520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020824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FBBF24">
              <a:alpha val="8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198424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⏰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24928" y="20025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Time-Windowed Scheduling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4928" y="242316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startTime &amp; endTime. Platform auto-locks the exam outside the scheduled window — zero manual effort.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47288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59359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818CF8">
              <a:alpha val="8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55701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⏸️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44168" y="35753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Pause / Deactivate Instantly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44168" y="39959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any exam to PAUSED or INACTIVE in one click. Students in-session are gracefully halted.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46520" y="3447288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1112" y="359359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C084FC">
              <a:alpha val="8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55701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🚩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24928" y="35753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Flagged Question Tracking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24928" y="399592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flag uncertain questions during exam. Flags are preserved across reconnects and draft saves.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5020056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516636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129784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44168" y="514807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Auto-Save Exam Draft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44168" y="556869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+ time remaining + question index saved continuously. Students reconnect without losing progress.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5020056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11112" y="516636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5129784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📵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424928" y="514807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Tab-Switch Detection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24928" y="556869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tab switch counted and stored. Admins can see suspicious behaviour in the result detail view.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3474720" y="-2103120"/>
            <a:ext cx="12435840" cy="12435840"/>
          </a:xfrm>
          <a:prstGeom prst="ellipse">
            <a:avLst/>
          </a:prstGeom>
          <a:solidFill>
            <a:srgbClr val="10B981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-1005840"/>
            <a:ext cx="10241280" cy="10241280"/>
          </a:xfrm>
          <a:prstGeom prst="ellipse">
            <a:avLst/>
          </a:prstGeom>
          <a:solidFill>
            <a:srgbClr val="10B981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91440"/>
            <a:ext cx="8046720" cy="8046720"/>
          </a:xfrm>
          <a:prstGeom prst="ellipse">
            <a:avLst/>
          </a:prstGeom>
          <a:solidFill>
            <a:srgbClr val="10B981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82880" y="1188720"/>
            <a:ext cx="5852160" cy="585216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3657600" cy="365760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STUDENT EXPERIENCE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Exam Experience (Student View)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 distraction-free, intuitive test interface that feels premium on any device.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11475720" cy="4572000"/>
          </a:xfrm>
          <a:prstGeom prst="roundRect">
            <a:avLst>
              <a:gd name="adj" fmla="val 2800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920240"/>
            <a:ext cx="11475720" cy="457200"/>
          </a:xfrm>
          <a:prstGeom prst="roundRect">
            <a:avLst/>
          </a:prstGeom>
          <a:solidFill>
            <a:srgbClr val="04091A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2029968"/>
            <a:ext cx="164592" cy="164592"/>
          </a:xfrm>
          <a:prstGeom prst="ellipse">
            <a:avLst/>
          </a:prstGeom>
          <a:solidFill>
            <a:srgbClr val="E14D4D"/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" y="2029968"/>
            <a:ext cx="164592" cy="164592"/>
          </a:xfrm>
          <a:prstGeom prst="ellipse">
            <a:avLst/>
          </a:prstGeom>
          <a:solidFill>
            <a:srgbClr val="F5A523"/>
          </a:solidFill>
          <a:ln/>
        </p:spPr>
      </p:sp>
      <p:sp>
        <p:nvSpPr>
          <p:cNvPr id="16" name="Shape 14"/>
          <p:cNvSpPr/>
          <p:nvPr/>
        </p:nvSpPr>
        <p:spPr>
          <a:xfrm>
            <a:off x="1179576" y="2029968"/>
            <a:ext cx="164592" cy="164592"/>
          </a:xfrm>
          <a:prstGeom prst="ellipse">
            <a:avLst/>
          </a:prstGeom>
          <a:solidFill>
            <a:srgbClr val="2BCC7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2002536"/>
            <a:ext cx="5943600" cy="219456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691640" y="201168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abcdexamhub.app/exam/phy-chapter1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11338560" cy="41148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468880"/>
            <a:ext cx="7315200" cy="411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5328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38:21 remaining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253288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14 / 40  ·  🚩 Flag Question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94436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Q14.  The acceleration due to gravity at the surface of the Earth is approximately: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10881360" cy="384048"/>
          </a:xfrm>
          <a:prstGeom prst="roundRect">
            <a:avLst>
              <a:gd name="adj" fmla="val 14286"/>
            </a:avLst>
          </a:prstGeom>
          <a:solidFill>
            <a:srgbClr val="0F1A30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566160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  8.2 m/s²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02920" y="3995928"/>
            <a:ext cx="1088136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995928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  9.8 m/s²  ✓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4425696"/>
            <a:ext cx="10881360" cy="384048"/>
          </a:xfrm>
          <a:prstGeom prst="roundRect">
            <a:avLst>
              <a:gd name="adj" fmla="val 14286"/>
            </a:avLst>
          </a:prstGeom>
          <a:solidFill>
            <a:srgbClr val="0F1A30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42569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C.  10.5 m/s²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02920" y="4855464"/>
            <a:ext cx="10881360" cy="384048"/>
          </a:xfrm>
          <a:prstGeom prst="roundRect">
            <a:avLst>
              <a:gd name="adj" fmla="val 14286"/>
            </a:avLst>
          </a:prstGeom>
          <a:solidFill>
            <a:srgbClr val="0F1A30">
              <a:alpha val="2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855464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  11.0 m/s²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687568"/>
            <a:ext cx="1920240" cy="402336"/>
          </a:xfrm>
          <a:prstGeom prst="roundRect">
            <a:avLst>
              <a:gd name="adj" fmla="val 15909"/>
            </a:avLst>
          </a:prstGeom>
          <a:solidFill>
            <a:srgbClr val="0F1A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56875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← Prev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75520" y="5687568"/>
            <a:ext cx="1920240" cy="402336"/>
          </a:xfrm>
          <a:prstGeom prst="roundRect">
            <a:avLst>
              <a:gd name="adj" fmla="val 15909"/>
            </a:avLst>
          </a:pr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9875520" y="5687568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572000" y="-914400"/>
            <a:ext cx="15544800" cy="15544800"/>
          </a:xfrm>
          <a:prstGeom prst="ellipse">
            <a:avLst/>
          </a:prstGeom>
          <a:solidFill>
            <a:srgbClr val="F59E0B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457200"/>
            <a:ext cx="12801600" cy="12801600"/>
          </a:xfrm>
          <a:prstGeom prst="ellipse">
            <a:avLst/>
          </a:prstGeom>
          <a:solidFill>
            <a:srgbClr val="F59E0B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1828800"/>
            <a:ext cx="10058400" cy="10058400"/>
          </a:xfrm>
          <a:prstGeom prst="ellipse">
            <a:avLst/>
          </a:prstGeom>
          <a:solidFill>
            <a:srgbClr val="F59E0B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86800" y="3200400"/>
            <a:ext cx="7315200" cy="7315200"/>
          </a:xfrm>
          <a:prstGeom prst="ellipse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4572000"/>
            <a:ext cx="4572000" cy="4572000"/>
          </a:xfrm>
          <a:prstGeom prst="ellipse">
            <a:avLst/>
          </a:prstGeom>
          <a:solidFill>
            <a:srgbClr val="F59E0B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FBBF24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RESULT SYSTEM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 Engine — Three Publish Modes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Flexible result visibility. Full transparency. Admin-controlled always.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3749040" cy="2743200"/>
          </a:xfrm>
          <a:prstGeom prst="roundRect">
            <a:avLst>
              <a:gd name="adj" fmla="val 4667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182880" y="1234440"/>
            <a:ext cx="3108960" cy="3108960"/>
          </a:xfrm>
          <a:prstGeom prst="ellipse">
            <a:avLst/>
          </a:prstGeom>
          <a:solidFill>
            <a:srgbClr val="34D399">
              <a:alpha val="9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" y="1508760"/>
            <a:ext cx="2560320" cy="2560320"/>
          </a:xfrm>
          <a:prstGeom prst="ellipse">
            <a:avLst/>
          </a:prstGeom>
          <a:solidFill>
            <a:srgbClr val="34D399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1783080"/>
            <a:ext cx="2011680" cy="2011680"/>
          </a:xfrm>
          <a:prstGeom prst="ellipse">
            <a:avLst/>
          </a:prstGeom>
          <a:solidFill>
            <a:srgbClr val="34D399">
              <a:alpha val="8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057400"/>
            <a:ext cx="1463040" cy="146304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331720"/>
            <a:ext cx="914400" cy="9144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9202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40080" y="1938528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9385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2395728"/>
            <a:ext cx="340156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revealed the moment the student submits. Ideal for practice tests and mock exams where immediate feedback boosts retention.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43400" y="1828800"/>
            <a:ext cx="3749040" cy="2743200"/>
          </a:xfrm>
          <a:prstGeom prst="roundRect">
            <a:avLst>
              <a:gd name="adj" fmla="val 4667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1234440"/>
            <a:ext cx="3108960" cy="3108960"/>
          </a:xfrm>
          <a:prstGeom prst="ellipse">
            <a:avLst/>
          </a:prstGeom>
          <a:solidFill>
            <a:srgbClr val="FBBF24">
              <a:alpha val="9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069080" y="1508760"/>
            <a:ext cx="2560320" cy="2560320"/>
          </a:xfrm>
          <a:prstGeom prst="ellipse">
            <a:avLst/>
          </a:prstGeom>
          <a:solidFill>
            <a:srgbClr val="FBBF24">
              <a:alpha val="9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43400" y="1783080"/>
            <a:ext cx="2011680" cy="2011680"/>
          </a:xfrm>
          <a:prstGeom prst="ellipse">
            <a:avLst/>
          </a:prstGeom>
          <a:solidFill>
            <a:srgbClr val="FBBF24">
              <a:alpha val="89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617720" y="2057400"/>
            <a:ext cx="1463040" cy="146304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92040" y="2331720"/>
            <a:ext cx="914400" cy="91440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343400" y="19202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🏁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4617720" y="1938528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FBBF24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19385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 END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26280" y="2395728"/>
            <a:ext cx="340156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results unlock together when the exam window closes. Perfect for competitive tests — no early reveals, complete fairness.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1828800"/>
            <a:ext cx="3749040" cy="2743200"/>
          </a:xfrm>
          <a:prstGeom prst="roundRect">
            <a:avLst>
              <a:gd name="adj" fmla="val 4667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1234440"/>
            <a:ext cx="3108960" cy="3108960"/>
          </a:xfrm>
          <a:prstGeom prst="ellipse">
            <a:avLst/>
          </a:prstGeom>
          <a:solidFill>
            <a:srgbClr val="818CF8">
              <a:alpha val="9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046720" y="1508760"/>
            <a:ext cx="2560320" cy="2560320"/>
          </a:xfrm>
          <a:prstGeom prst="ellipse">
            <a:avLst/>
          </a:prstGeom>
          <a:solidFill>
            <a:srgbClr val="818CF8">
              <a:alpha val="9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8321040" y="1783080"/>
            <a:ext cx="2011680" cy="2011680"/>
          </a:xfrm>
          <a:prstGeom prst="ellipse">
            <a:avLst/>
          </a:prstGeom>
          <a:solidFill>
            <a:srgbClr val="818CF8">
              <a:alpha val="89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595360" y="2057400"/>
            <a:ext cx="1463040" cy="146304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869680" y="2331720"/>
            <a:ext cx="914400" cy="91440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321040" y="192024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📆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8595360" y="1938528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818CF8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193852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03920" y="2395728"/>
            <a:ext cx="340156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sets a specific date &amp; time for results to go live. Great for board exams, semester tests, or exams with manual review.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" y="4754880"/>
            <a:ext cx="10972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Every Result Report Includes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11480" y="5212080"/>
            <a:ext cx="11384280" cy="2560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5321808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0B1225">
              <a:alpha val="5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53218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Total Score &amp; Percentage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4389120" y="5321808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0B1225">
              <a:alpha val="5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53218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Pass / Fail Status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66760" y="5321808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0B1225">
              <a:alpha val="5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9640" y="53218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 Time Taken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411480" y="5852160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0B1225">
              <a:alpha val="5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5852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Per-Question Answer Log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389120" y="5852160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0B1225">
              <a:alpha val="5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5852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Correct vs Wrong Breakdown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366760" y="5852160"/>
            <a:ext cx="3749040" cy="457200"/>
          </a:xfrm>
          <a:prstGeom prst="roundRect">
            <a:avLst>
              <a:gd name="adj" fmla="val 28000"/>
            </a:avLst>
          </a:prstGeom>
          <a:solidFill>
            <a:srgbClr val="0B1225">
              <a:alpha val="5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549640" y="5852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📵 Tab Switch Count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2926080" y="-2468880"/>
            <a:ext cx="10881360" cy="10881360"/>
          </a:xfrm>
          <a:prstGeom prst="ellipse">
            <a:avLst/>
          </a:prstGeom>
          <a:solidFill>
            <a:srgbClr val="6366F1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965960" y="-1508760"/>
            <a:ext cx="8961120" cy="8961120"/>
          </a:xfrm>
          <a:prstGeom prst="ellipse">
            <a:avLst/>
          </a:prstGeom>
          <a:solidFill>
            <a:srgbClr val="6366F1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05840" y="-548640"/>
            <a:ext cx="7040880" cy="7040880"/>
          </a:xfrm>
          <a:prstGeom prst="ellipse">
            <a:avLst/>
          </a:prstGeom>
          <a:solidFill>
            <a:srgbClr val="6366F1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45720" y="411480"/>
            <a:ext cx="5120640" cy="5120640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3200400" cy="3200400"/>
          </a:xfrm>
          <a:prstGeom prst="ellipse">
            <a:avLst/>
          </a:prstGeom>
          <a:solidFill>
            <a:srgbClr val="6366F1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818CF8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RESULT DEEP DIVE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Result Analysis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Students and admins see exactly what happened on every question — with full breakdown.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828800"/>
            <a:ext cx="4846320" cy="4754880"/>
          </a:xfrm>
          <a:prstGeom prst="roundRect">
            <a:avLst>
              <a:gd name="adj" fmla="val 2692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1920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Your Result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2432304"/>
            <a:ext cx="4480560" cy="25603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5603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834640" y="256032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/ 40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29992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Percentage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34640" y="29992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85.0 %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" y="34381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834640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PASS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8770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 Taken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834640" y="38770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min 18 sec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3159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834640" y="43159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questions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4754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834640" y="4754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questions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51937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Skipped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34640" y="5193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questions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" y="563270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Switches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834640" y="56327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detected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4360" y="60716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34640" y="60716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 of 48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40680" y="1828800"/>
            <a:ext cx="6766560" cy="4754880"/>
          </a:xfrm>
          <a:prstGeom prst="roundRect">
            <a:avLst>
              <a:gd name="adj" fmla="val 2692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Per-Question Log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623560" y="2432304"/>
            <a:ext cx="6309360" cy="25603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0" y="2505456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Q#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5054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Answer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955280" y="2505456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 Answer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0058400" y="250545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23560" y="2852928"/>
            <a:ext cx="6263640" cy="25603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1" name="Shape 39"/>
          <p:cNvSpPr/>
          <p:nvPr/>
        </p:nvSpPr>
        <p:spPr>
          <a:xfrm>
            <a:off x="5440680" y="2926080"/>
            <a:ext cx="6766560" cy="402336"/>
          </a:xfrm>
          <a:prstGeom prst="rect">
            <a:avLst/>
          </a:prstGeom>
          <a:solidFill>
            <a:srgbClr val="0F1A30">
              <a:alpha val="4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623560" y="29260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126480" y="29260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909560" y="29260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0012680" y="29260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440680" y="3383280"/>
            <a:ext cx="6766560" cy="402336"/>
          </a:xfrm>
          <a:prstGeom prst="rect">
            <a:avLst/>
          </a:prstGeom>
          <a:solidFill>
            <a:srgbClr val="0B1225">
              <a:alpha val="45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623560" y="33832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6126480" y="33832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7909560" y="33832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012680" y="33832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5440680" y="3840480"/>
            <a:ext cx="6766560" cy="402336"/>
          </a:xfrm>
          <a:prstGeom prst="rect">
            <a:avLst/>
          </a:prstGeom>
          <a:solidFill>
            <a:srgbClr val="0F1A30">
              <a:alpha val="4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623560" y="38404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126480" y="38404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909560" y="38404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0012680" y="38404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440680" y="4297680"/>
            <a:ext cx="6766560" cy="402336"/>
          </a:xfrm>
          <a:prstGeom prst="rect">
            <a:avLst/>
          </a:prstGeom>
          <a:solidFill>
            <a:srgbClr val="0B1225">
              <a:alpha val="45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623560" y="42976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6126480" y="42976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7909560" y="42976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10012680" y="42976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⏭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5440680" y="4754880"/>
            <a:ext cx="6766560" cy="402336"/>
          </a:xfrm>
          <a:prstGeom prst="rect">
            <a:avLst/>
          </a:prstGeom>
          <a:solidFill>
            <a:srgbClr val="0F1A30">
              <a:alpha val="4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5623560" y="47548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126480" y="47548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909560" y="47548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0012680" y="47548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5440680" y="5212080"/>
            <a:ext cx="6766560" cy="402336"/>
          </a:xfrm>
          <a:prstGeom prst="rect">
            <a:avLst/>
          </a:prstGeom>
          <a:solidFill>
            <a:srgbClr val="0B1225">
              <a:alpha val="45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5623560" y="52120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126480" y="52120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7909560" y="52120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10012680" y="52120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5440680" y="5669280"/>
            <a:ext cx="6766560" cy="402336"/>
          </a:xfrm>
          <a:prstGeom prst="rect">
            <a:avLst/>
          </a:prstGeom>
          <a:solidFill>
            <a:srgbClr val="0F1A30">
              <a:alpha val="4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623560" y="56692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6126480" y="56692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7909560" y="56692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10012680" y="56692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440680" y="6126480"/>
            <a:ext cx="6766560" cy="402336"/>
          </a:xfrm>
          <a:prstGeom prst="rect">
            <a:avLst/>
          </a:prstGeom>
          <a:solidFill>
            <a:srgbClr val="0B1225">
              <a:alpha val="4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5623560" y="612648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6126480" y="612648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7909560" y="61264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10012680" y="61264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411480" y="676656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controls: Show/Hide Correct Answers  ·  Show/Hide Detailed Log  ·  Per-exam configurable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943600" y="-4114800"/>
            <a:ext cx="15544800" cy="15544800"/>
          </a:xfrm>
          <a:prstGeom prst="ellipse">
            <a:avLst/>
          </a:prstGeom>
          <a:solidFill>
            <a:srgbClr val="A855F7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2743200"/>
            <a:ext cx="12801600" cy="12801600"/>
          </a:xfrm>
          <a:prstGeom prst="ellipse">
            <a:avLst/>
          </a:prstGeom>
          <a:solidFill>
            <a:srgbClr val="A855F7">
              <a:alpha val="9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-1371600"/>
            <a:ext cx="10058400" cy="10058400"/>
          </a:xfrm>
          <a:prstGeom prst="ellipse">
            <a:avLst/>
          </a:prstGeom>
          <a:solidFill>
            <a:srgbClr val="A855F7">
              <a:alpha val="9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0" y="0"/>
            <a:ext cx="7315200" cy="7315200"/>
          </a:xfrm>
          <a:prstGeom prst="ellipse">
            <a:avLst/>
          </a:prstGeom>
          <a:solidFill>
            <a:srgbClr val="A855F7">
              <a:alpha val="8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1371600"/>
            <a:ext cx="4572000" cy="4572000"/>
          </a:xfrm>
          <a:prstGeom prst="ellipse">
            <a:avLst/>
          </a:prstGeom>
          <a:solidFill>
            <a:srgbClr val="A855F7">
              <a:alpha val="8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2834640" y="2651760"/>
            <a:ext cx="9326880" cy="9326880"/>
          </a:xfrm>
          <a:prstGeom prst="ellipse">
            <a:avLst/>
          </a:prstGeom>
          <a:solidFill>
            <a:srgbClr val="06B6D4">
              <a:alpha val="9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2011680" y="3474720"/>
            <a:ext cx="7680960" cy="7680960"/>
          </a:xfrm>
          <a:prstGeom prst="ellipse">
            <a:avLst/>
          </a:prstGeom>
          <a:solidFill>
            <a:srgbClr val="06B6D4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1188720" y="4297680"/>
            <a:ext cx="6035040" cy="6035040"/>
          </a:xfrm>
          <a:prstGeom prst="ellipse">
            <a:avLst/>
          </a:prstGeom>
          <a:solidFill>
            <a:srgbClr val="06B6D4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-365760" y="5120640"/>
            <a:ext cx="4389120" cy="4389120"/>
          </a:xfrm>
          <a:prstGeom prst="ellipse">
            <a:avLst/>
          </a:prstGeom>
          <a:solidFill>
            <a:srgbClr val="06B6D4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5943600"/>
            <a:ext cx="2743200" cy="2743200"/>
          </a:xfrm>
          <a:prstGeom prst="ellipse">
            <a:avLst/>
          </a:prstGeom>
          <a:solidFill>
            <a:srgbClr val="06B6D4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C084FC">
              <a:alpha val="7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ENGINE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Student Recommendations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Gemini AI analyses every student's history and recommends their next exam intelligently.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1920240"/>
            <a:ext cx="2788920" cy="3383280"/>
          </a:xfrm>
          <a:prstGeom prst="roundRect">
            <a:avLst>
              <a:gd name="adj" fmla="val 4590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" y="1344168"/>
            <a:ext cx="2798064" cy="2798064"/>
          </a:xfrm>
          <a:prstGeom prst="ellipse">
            <a:avLst/>
          </a:prstGeom>
          <a:solidFill>
            <a:srgbClr val="818CF8">
              <a:alpha val="9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56616" y="1591056"/>
            <a:ext cx="2304288" cy="2304288"/>
          </a:xfrm>
          <a:prstGeom prst="ellipse">
            <a:avLst/>
          </a:prstGeom>
          <a:solidFill>
            <a:srgbClr val="818CF8">
              <a:alpha val="91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" y="1837944"/>
            <a:ext cx="1810512" cy="1810512"/>
          </a:xfrm>
          <a:prstGeom prst="ellipse">
            <a:avLst/>
          </a:prstGeom>
          <a:solidFill>
            <a:srgbClr val="818CF8">
              <a:alpha val="8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" y="2084832"/>
            <a:ext cx="1316736" cy="1316736"/>
          </a:xfrm>
          <a:prstGeom prst="ellipse">
            <a:avLst/>
          </a:prstGeom>
          <a:solidFill>
            <a:srgbClr val="818CF8">
              <a:alpha val="8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" y="2331720"/>
            <a:ext cx="822960" cy="822960"/>
          </a:xfrm>
          <a:prstGeom prst="ellipse">
            <a:avLst/>
          </a:prstGeom>
          <a:solidFill>
            <a:srgbClr val="818CF8">
              <a:alpha val="8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2011680"/>
            <a:ext cx="530352" cy="365760"/>
          </a:xfrm>
          <a:prstGeom prst="roundRect">
            <a:avLst>
              <a:gd name="adj" fmla="val 17500"/>
            </a:avLst>
          </a:prstGeom>
          <a:solidFill>
            <a:srgbClr val="818CF8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011680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24231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📊</a:t>
            </a:r>
            <a:endParaRPr lang="en-US" sz="2500" dirty="0"/>
          </a:p>
        </p:txBody>
      </p:sp>
      <p:sp>
        <p:nvSpPr>
          <p:cNvPr id="26" name="Shape 24"/>
          <p:cNvSpPr/>
          <p:nvPr/>
        </p:nvSpPr>
        <p:spPr>
          <a:xfrm>
            <a:off x="594360" y="3310128"/>
            <a:ext cx="2331720" cy="25603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01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Intake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388620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completes exams. Scores, time, correct answers recorded per topic.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37560" y="1920240"/>
            <a:ext cx="2788920" cy="3383280"/>
          </a:xfrm>
          <a:prstGeom prst="roundRect">
            <a:avLst>
              <a:gd name="adj" fmla="val 4590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81528" y="1344168"/>
            <a:ext cx="2798064" cy="2798064"/>
          </a:xfrm>
          <a:prstGeom prst="ellipse">
            <a:avLst/>
          </a:prstGeom>
          <a:solidFill>
            <a:srgbClr val="C084FC">
              <a:alpha val="9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328416" y="1591056"/>
            <a:ext cx="2304288" cy="2304288"/>
          </a:xfrm>
          <a:prstGeom prst="ellipse">
            <a:avLst/>
          </a:prstGeom>
          <a:solidFill>
            <a:srgbClr val="C084FC">
              <a:alpha val="91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575304" y="1837944"/>
            <a:ext cx="1810512" cy="1810512"/>
          </a:xfrm>
          <a:prstGeom prst="ellipse">
            <a:avLst/>
          </a:prstGeom>
          <a:solidFill>
            <a:srgbClr val="C084FC">
              <a:alpha val="8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22192" y="2084832"/>
            <a:ext cx="1316736" cy="1316736"/>
          </a:xfrm>
          <a:prstGeom prst="ellipse">
            <a:avLst/>
          </a:prstGeom>
          <a:solidFill>
            <a:srgbClr val="C084FC">
              <a:alpha val="82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69080" y="2331720"/>
            <a:ext cx="822960" cy="822960"/>
          </a:xfrm>
          <a:prstGeom prst="ellipse">
            <a:avLst/>
          </a:prstGeom>
          <a:solidFill>
            <a:srgbClr val="C084FC">
              <a:alpha val="82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520440" y="2011680"/>
            <a:ext cx="530352" cy="365760"/>
          </a:xfrm>
          <a:prstGeom prst="roundRect">
            <a:avLst>
              <a:gd name="adj" fmla="val 17500"/>
            </a:avLst>
          </a:prstGeom>
          <a:solidFill>
            <a:srgbClr val="C084FC">
              <a:alpha val="7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0440" y="2011680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37560" y="24231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🧠</a:t>
            </a:r>
            <a:endParaRPr lang="en-US" sz="2500" dirty="0"/>
          </a:p>
        </p:txBody>
      </p:sp>
      <p:sp>
        <p:nvSpPr>
          <p:cNvPr id="38" name="Shape 36"/>
          <p:cNvSpPr/>
          <p:nvPr/>
        </p:nvSpPr>
        <p:spPr>
          <a:xfrm>
            <a:off x="3566160" y="3310128"/>
            <a:ext cx="2331720" cy="25603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401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Analysis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429000" y="388620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analyses topic affinities, weak areas, and performance trend over all results.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9360" y="1920240"/>
            <a:ext cx="2788920" cy="3383280"/>
          </a:xfrm>
          <a:prstGeom prst="roundRect">
            <a:avLst>
              <a:gd name="adj" fmla="val 4590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53328" y="1344168"/>
            <a:ext cx="2798064" cy="2798064"/>
          </a:xfrm>
          <a:prstGeom prst="ellipse">
            <a:avLst/>
          </a:prstGeom>
          <a:solidFill>
            <a:srgbClr val="22D3EE">
              <a:alpha val="9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300216" y="1591056"/>
            <a:ext cx="2304288" cy="2304288"/>
          </a:xfrm>
          <a:prstGeom prst="ellipse">
            <a:avLst/>
          </a:prstGeom>
          <a:solidFill>
            <a:srgbClr val="22D3EE">
              <a:alpha val="91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547104" y="1837944"/>
            <a:ext cx="1810512" cy="1810512"/>
          </a:xfrm>
          <a:prstGeom prst="ellipse">
            <a:avLst/>
          </a:prstGeom>
          <a:solidFill>
            <a:srgbClr val="22D3EE">
              <a:alpha val="8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793992" y="2084832"/>
            <a:ext cx="1316736" cy="1316736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0880" y="2331720"/>
            <a:ext cx="822960" cy="822960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92240" y="2011680"/>
            <a:ext cx="530352" cy="365760"/>
          </a:xfrm>
          <a:prstGeom prst="roundRect">
            <a:avLst>
              <a:gd name="adj" fmla="val 17500"/>
            </a:avLst>
          </a:prstGeom>
          <a:solidFill>
            <a:srgbClr val="22D3EE">
              <a:alpha val="7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011680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309360" y="24231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🎯</a:t>
            </a:r>
            <a:endParaRPr lang="en-US" sz="2500" dirty="0"/>
          </a:p>
        </p:txBody>
      </p:sp>
      <p:sp>
        <p:nvSpPr>
          <p:cNvPr id="50" name="Shape 48"/>
          <p:cNvSpPr/>
          <p:nvPr/>
        </p:nvSpPr>
        <p:spPr>
          <a:xfrm>
            <a:off x="6537960" y="3310128"/>
            <a:ext cx="2331720" cy="2560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3401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Match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00800" y="388620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Algorithm matches student profile to available exams by topics and difficulty.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281160" y="1920240"/>
            <a:ext cx="2788920" cy="3383280"/>
          </a:xfrm>
          <a:prstGeom prst="roundRect">
            <a:avLst>
              <a:gd name="adj" fmla="val 4590"/>
            </a:avLst>
          </a:prstGeom>
          <a:solidFill>
            <a:srgbClr val="0B1225">
              <a:alpha val="3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025128" y="1344168"/>
            <a:ext cx="2798064" cy="2798064"/>
          </a:xfrm>
          <a:prstGeom prst="ellipse">
            <a:avLst/>
          </a:prstGeom>
          <a:solidFill>
            <a:srgbClr val="34D399">
              <a:alpha val="9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272016" y="1591056"/>
            <a:ext cx="2304288" cy="2304288"/>
          </a:xfrm>
          <a:prstGeom prst="ellipse">
            <a:avLst/>
          </a:prstGeom>
          <a:solidFill>
            <a:srgbClr val="34D399">
              <a:alpha val="91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518904" y="1837944"/>
            <a:ext cx="1810512" cy="1810512"/>
          </a:xfrm>
          <a:prstGeom prst="ellipse">
            <a:avLst/>
          </a:prstGeom>
          <a:solidFill>
            <a:srgbClr val="34D399">
              <a:alpha val="8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765792" y="2084832"/>
            <a:ext cx="1316736" cy="1316736"/>
          </a:xfrm>
          <a:prstGeom prst="ellipse">
            <a:avLst/>
          </a:prstGeom>
          <a:solidFill>
            <a:srgbClr val="34D399">
              <a:alpha val="82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012680" y="2331720"/>
            <a:ext cx="822960" cy="822960"/>
          </a:xfrm>
          <a:prstGeom prst="ellipse">
            <a:avLst/>
          </a:prstGeom>
          <a:solidFill>
            <a:srgbClr val="34D399">
              <a:alpha val="82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464040" y="2011680"/>
            <a:ext cx="530352" cy="365760"/>
          </a:xfrm>
          <a:prstGeom prst="roundRect">
            <a:avLst>
              <a:gd name="adj" fmla="val 17500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64040" y="2011680"/>
            <a:ext cx="530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9281160" y="2423160"/>
            <a:ext cx="2788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000000"/>
                </a:solidFill>
              </a:rPr>
              <a:t>✨</a:t>
            </a:r>
            <a:endParaRPr lang="en-US" sz="2500" dirty="0"/>
          </a:p>
        </p:txBody>
      </p:sp>
      <p:sp>
        <p:nvSpPr>
          <p:cNvPr id="62" name="Shape 60"/>
          <p:cNvSpPr/>
          <p:nvPr/>
        </p:nvSpPr>
        <p:spPr>
          <a:xfrm>
            <a:off x="9509760" y="3310128"/>
            <a:ext cx="2331720" cy="25603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3" name="Text 61"/>
          <p:cNvSpPr/>
          <p:nvPr/>
        </p:nvSpPr>
        <p:spPr>
          <a:xfrm>
            <a:off x="9372600" y="340156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Personalised Feed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9372600" y="388620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dashboard shows recommended exams — always relevant, never generic.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3172968" y="32461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144768" y="32461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116568" y="3246120"/>
            <a:ext cx="320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▶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365760" y="5532120"/>
            <a:ext cx="11475720" cy="1234440"/>
          </a:xfrm>
          <a:prstGeom prst="roundRect">
            <a:avLst>
              <a:gd name="adj" fmla="val 10370"/>
            </a:avLst>
          </a:prstGeom>
          <a:solidFill>
            <a:srgbClr val="0B1225">
              <a:alpha val="5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4360" y="5623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Admin Visibility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3950208" y="5760720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71" name="Text 69"/>
          <p:cNvSpPr/>
          <p:nvPr/>
        </p:nvSpPr>
        <p:spPr>
          <a:xfrm>
            <a:off x="4133088" y="565099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Topic-level weak spots across your student cohort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7882128" y="5760720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73" name="Text 71"/>
          <p:cNvSpPr/>
          <p:nvPr/>
        </p:nvSpPr>
        <p:spPr>
          <a:xfrm>
            <a:off x="8065008" y="565099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Per-student engagement and attempt frequency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3950208" y="6199632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75" name="Text 73"/>
          <p:cNvSpPr/>
          <p:nvPr/>
        </p:nvSpPr>
        <p:spPr>
          <a:xfrm>
            <a:off x="4133088" y="60899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Cohort-wide pass/fail ratio by exam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7882128" y="6199632"/>
            <a:ext cx="109728" cy="109728"/>
          </a:xfrm>
          <a:prstGeom prst="ellipse">
            <a:avLst/>
          </a:prstGeom>
          <a:solidFill>
            <a:srgbClr val="C084FC"/>
          </a:solidFill>
          <a:ln/>
        </p:spPr>
      </p:sp>
      <p:sp>
        <p:nvSpPr>
          <p:cNvPr id="77" name="Text 75"/>
          <p:cNvSpPr/>
          <p:nvPr/>
        </p:nvSpPr>
        <p:spPr>
          <a:xfrm>
            <a:off x="8065008" y="608990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recommendation acceptance rate tracking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114800" y="-1828800"/>
            <a:ext cx="15544800" cy="15544800"/>
          </a:xfrm>
          <a:prstGeom prst="ellipse">
            <a:avLst/>
          </a:prstGeom>
          <a:solidFill>
            <a:srgbClr val="10B981">
              <a:alpha val="9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-457200"/>
            <a:ext cx="12801600" cy="12801600"/>
          </a:xfrm>
          <a:prstGeom prst="ellipse">
            <a:avLst/>
          </a:prstGeom>
          <a:solidFill>
            <a:srgbClr val="10B981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914400"/>
            <a:ext cx="10058400" cy="10058400"/>
          </a:xfrm>
          <a:prstGeom prst="ellipse">
            <a:avLst/>
          </a:prstGeom>
          <a:solidFill>
            <a:srgbClr val="10B981">
              <a:alpha val="9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2286000"/>
            <a:ext cx="7315200" cy="7315200"/>
          </a:xfrm>
          <a:prstGeom prst="ellipse">
            <a:avLst/>
          </a:prstGeom>
          <a:solidFill>
            <a:srgbClr val="10B981">
              <a:alpha val="91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01200" y="3657600"/>
            <a:ext cx="4572000" cy="4572000"/>
          </a:xfrm>
          <a:prstGeom prst="ellipse">
            <a:avLst/>
          </a:prstGeom>
          <a:solidFill>
            <a:srgbClr val="10B981">
              <a:alpha val="9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ANALYTICS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Analytics Dashboard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High-level workspace intelligence — aggregated exam performance at a glance.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3749040" cy="1536192"/>
          </a:xfrm>
          <a:prstGeom prst="roundRect">
            <a:avLst>
              <a:gd name="adj" fmla="val 8333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960120"/>
            <a:ext cx="3108960" cy="3108960"/>
          </a:xfrm>
          <a:prstGeom prst="ellipse">
            <a:avLst/>
          </a:prstGeom>
          <a:solidFill>
            <a:srgbClr val="818CF8">
              <a:alpha val="9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651760" y="1234440"/>
            <a:ext cx="2560320" cy="2560320"/>
          </a:xfrm>
          <a:prstGeom prst="ellipse">
            <a:avLst/>
          </a:prstGeom>
          <a:solidFill>
            <a:srgbClr val="818CF8">
              <a:alpha val="9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926080" y="1508760"/>
            <a:ext cx="2011680" cy="2011680"/>
          </a:xfrm>
          <a:prstGeom prst="ellipse">
            <a:avLst/>
          </a:prstGeom>
          <a:solidFill>
            <a:srgbClr val="818CF8">
              <a:alpha val="8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783080"/>
            <a:ext cx="1463040" cy="146304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474720" y="2057400"/>
            <a:ext cx="914400" cy="914400"/>
          </a:xfrm>
          <a:prstGeom prst="ellipse">
            <a:avLst/>
          </a:prstGeom>
          <a:solidFill>
            <a:srgbClr val="818CF8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203911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1,248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234440" y="271576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Attempts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0832" y="1874520"/>
            <a:ext cx="3749040" cy="1536192"/>
          </a:xfrm>
          <a:prstGeom prst="roundRect">
            <a:avLst>
              <a:gd name="adj" fmla="val 8333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82512" y="960120"/>
            <a:ext cx="3108960" cy="3108960"/>
          </a:xfrm>
          <a:prstGeom prst="ellipse">
            <a:avLst/>
          </a:prstGeom>
          <a:solidFill>
            <a:srgbClr val="34D399">
              <a:alpha val="9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656832" y="1234440"/>
            <a:ext cx="2560320" cy="2560320"/>
          </a:xfrm>
          <a:prstGeom prst="ellipse">
            <a:avLst/>
          </a:prstGeom>
          <a:solidFill>
            <a:srgbClr val="34D399">
              <a:alpha val="92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931152" y="1508760"/>
            <a:ext cx="2011680" cy="2011680"/>
          </a:xfrm>
          <a:prstGeom prst="ellipse">
            <a:avLst/>
          </a:prstGeom>
          <a:solidFill>
            <a:srgbClr val="34D399">
              <a:alpha val="89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205472" y="1783080"/>
            <a:ext cx="1463040" cy="146304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479792" y="2057400"/>
            <a:ext cx="914400" cy="9144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239512" y="203911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74.3%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5239512" y="271576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Score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375904" y="1874520"/>
            <a:ext cx="3749040" cy="1536192"/>
          </a:xfrm>
          <a:prstGeom prst="roundRect">
            <a:avLst>
              <a:gd name="adj" fmla="val 8333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87584" y="960120"/>
            <a:ext cx="3108960" cy="3108960"/>
          </a:xfrm>
          <a:prstGeom prst="ellipse">
            <a:avLst/>
          </a:prstGeom>
          <a:solidFill>
            <a:srgbClr val="34D399">
              <a:alpha val="96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661904" y="1234440"/>
            <a:ext cx="2560320" cy="2560320"/>
          </a:xfrm>
          <a:prstGeom prst="ellipse">
            <a:avLst/>
          </a:prstGeom>
          <a:solidFill>
            <a:srgbClr val="34D399">
              <a:alpha val="9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936224" y="1508760"/>
            <a:ext cx="2011680" cy="2011680"/>
          </a:xfrm>
          <a:prstGeom prst="ellipse">
            <a:avLst/>
          </a:prstGeom>
          <a:solidFill>
            <a:srgbClr val="34D399">
              <a:alpha val="89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1210544" y="1783080"/>
            <a:ext cx="1463040" cy="146304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84864" y="2057400"/>
            <a:ext cx="914400" cy="914400"/>
          </a:xfrm>
          <a:prstGeom prst="ellipse">
            <a:avLst/>
          </a:prstGeom>
          <a:solidFill>
            <a:srgbClr val="34D399">
              <a:alpha val="8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558784" y="207568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244584" y="203911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89%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9244584" y="271576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Rate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3767328"/>
            <a:ext cx="3749040" cy="1536192"/>
          </a:xfrm>
          <a:prstGeom prst="roundRect">
            <a:avLst>
              <a:gd name="adj" fmla="val 8333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77440" y="2852928"/>
            <a:ext cx="3108960" cy="3108960"/>
          </a:xfrm>
          <a:prstGeom prst="ellipse">
            <a:avLst/>
          </a:prstGeom>
          <a:solidFill>
            <a:srgbClr val="FBBF24">
              <a:alpha val="96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651760" y="3127248"/>
            <a:ext cx="2560320" cy="2560320"/>
          </a:xfrm>
          <a:prstGeom prst="ellipse">
            <a:avLst/>
          </a:prstGeom>
          <a:solidFill>
            <a:srgbClr val="FBBF24">
              <a:alpha val="9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926080" y="3401568"/>
            <a:ext cx="2011680" cy="2011680"/>
          </a:xfrm>
          <a:prstGeom prst="ellipse">
            <a:avLst/>
          </a:prstGeom>
          <a:solidFill>
            <a:srgbClr val="FBBF24">
              <a:alpha val="89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0" y="3675888"/>
            <a:ext cx="1463040" cy="146304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474720" y="3950208"/>
            <a:ext cx="914400" cy="914400"/>
          </a:xfrm>
          <a:prstGeom prst="ellipse">
            <a:avLst/>
          </a:prstGeom>
          <a:solidFill>
            <a:srgbClr val="FBBF24">
              <a:alpha val="8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39684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234440" y="39319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min</a:t>
            </a:r>
            <a:endParaRPr lang="en-US" sz="2700" dirty="0"/>
          </a:p>
        </p:txBody>
      </p:sp>
      <p:sp>
        <p:nvSpPr>
          <p:cNvPr id="47" name="Text 45"/>
          <p:cNvSpPr/>
          <p:nvPr/>
        </p:nvSpPr>
        <p:spPr>
          <a:xfrm>
            <a:off x="1234440" y="46085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Avg. Time Taken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370832" y="3767328"/>
            <a:ext cx="3749040" cy="1536192"/>
          </a:xfrm>
          <a:prstGeom prst="roundRect">
            <a:avLst>
              <a:gd name="adj" fmla="val 8333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82512" y="2852928"/>
            <a:ext cx="3108960" cy="3108960"/>
          </a:xfrm>
          <a:prstGeom prst="ellipse">
            <a:avLst/>
          </a:prstGeom>
          <a:solidFill>
            <a:srgbClr val="22D3EE">
              <a:alpha val="96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56832" y="3127248"/>
            <a:ext cx="2560320" cy="2560320"/>
          </a:xfrm>
          <a:prstGeom prst="ellipse">
            <a:avLst/>
          </a:prstGeom>
          <a:solidFill>
            <a:srgbClr val="22D3EE">
              <a:alpha val="92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931152" y="3401568"/>
            <a:ext cx="2011680" cy="2011680"/>
          </a:xfrm>
          <a:prstGeom prst="ellipse">
            <a:avLst/>
          </a:prstGeom>
          <a:solidFill>
            <a:srgbClr val="22D3EE">
              <a:alpha val="89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05472" y="3675888"/>
            <a:ext cx="1463040" cy="1463040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79792" y="3950208"/>
            <a:ext cx="914400" cy="914400"/>
          </a:xfrm>
          <a:prstGeom prst="ellipse">
            <a:avLst/>
          </a:prstGeom>
          <a:solidFill>
            <a:srgbClr val="22D3EE">
              <a:alpha val="8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553712" y="39684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239512" y="39319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312</a:t>
            </a:r>
            <a:endParaRPr lang="en-US" sz="2700" dirty="0"/>
          </a:p>
        </p:txBody>
      </p:sp>
      <p:sp>
        <p:nvSpPr>
          <p:cNvPr id="56" name="Text 54"/>
          <p:cNvSpPr/>
          <p:nvPr/>
        </p:nvSpPr>
        <p:spPr>
          <a:xfrm>
            <a:off x="5239512" y="46085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Enrolled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75904" y="3767328"/>
            <a:ext cx="3749040" cy="1536192"/>
          </a:xfrm>
          <a:prstGeom prst="roundRect">
            <a:avLst>
              <a:gd name="adj" fmla="val 8333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387584" y="2852928"/>
            <a:ext cx="3108960" cy="3108960"/>
          </a:xfrm>
          <a:prstGeom prst="ellipse">
            <a:avLst/>
          </a:prstGeom>
          <a:solidFill>
            <a:srgbClr val="C084FC">
              <a:alpha val="96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0661904" y="3127248"/>
            <a:ext cx="2560320" cy="2560320"/>
          </a:xfrm>
          <a:prstGeom prst="ellipse">
            <a:avLst/>
          </a:prstGeom>
          <a:solidFill>
            <a:srgbClr val="C084FC">
              <a:alpha val="9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936224" y="3401568"/>
            <a:ext cx="2011680" cy="2011680"/>
          </a:xfrm>
          <a:prstGeom prst="ellipse">
            <a:avLst/>
          </a:prstGeom>
          <a:solidFill>
            <a:srgbClr val="C084FC">
              <a:alpha val="89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210544" y="3675888"/>
            <a:ext cx="1463040" cy="1463040"/>
          </a:xfrm>
          <a:prstGeom prst="ellipse">
            <a:avLst/>
          </a:prstGeom>
          <a:solidFill>
            <a:srgbClr val="C084FC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484864" y="3950208"/>
            <a:ext cx="914400" cy="914400"/>
          </a:xfrm>
          <a:prstGeom prst="ellipse">
            <a:avLst/>
          </a:prstGeom>
          <a:solidFill>
            <a:srgbClr val="C084FC">
              <a:alpha val="85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558784" y="396849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64" name="Text 62"/>
          <p:cNvSpPr/>
          <p:nvPr/>
        </p:nvSpPr>
        <p:spPr>
          <a:xfrm>
            <a:off x="9244584" y="39319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700" dirty="0"/>
          </a:p>
        </p:txBody>
      </p:sp>
      <p:sp>
        <p:nvSpPr>
          <p:cNvPr id="65" name="Text 63"/>
          <p:cNvSpPr/>
          <p:nvPr/>
        </p:nvSpPr>
        <p:spPr>
          <a:xfrm>
            <a:off x="9244584" y="4608576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Exams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" y="5532120"/>
            <a:ext cx="11475720" cy="1170432"/>
          </a:xfrm>
          <a:prstGeom prst="roundRect">
            <a:avLst>
              <a:gd name="adj" fmla="val 10938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6052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Teacher sees per-exam: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749040" y="560527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Student Name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5138928" y="560527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Score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528816" y="560527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% Score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7918704" y="560527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Pass/Fail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9308592" y="560527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Time Taken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10698480" y="5605272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Submission Date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results filterable by exam, date, or student  ·  Export on-demand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120640" y="-3566160"/>
            <a:ext cx="13990320" cy="13990320"/>
          </a:xfrm>
          <a:prstGeom prst="ellipse">
            <a:avLst/>
          </a:prstGeom>
          <a:solidFill>
            <a:srgbClr val="06B6D4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-2331720"/>
            <a:ext cx="11521440" cy="11521440"/>
          </a:xfrm>
          <a:prstGeom prst="ellipse">
            <a:avLst/>
          </a:prstGeom>
          <a:solidFill>
            <a:srgbClr val="06B6D4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-1097280"/>
            <a:ext cx="9052560" cy="9052560"/>
          </a:xfrm>
          <a:prstGeom prst="ellipse">
            <a:avLst/>
          </a:prstGeom>
          <a:solidFill>
            <a:srgbClr val="06B6D4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23960" y="137160"/>
            <a:ext cx="6583680" cy="658368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371600"/>
            <a:ext cx="4114800" cy="411480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22D3EE">
              <a:alpha val="7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COMMUNICATION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 &amp; Notification System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Broadcast important updates instantly — to your workspace, teachers, or students.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066544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02996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44168" y="204825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Notices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44168" y="2468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publishes notices visible to all workspace members. Auto-expires after 14 days for clean UX.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46520" y="1920240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066544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C084FC">
              <a:alpha val="8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2029968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24928" y="204825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Notifications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24928" y="246888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notification bell for teachers and students — new exam alerts, result announcements, updates.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6393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FBBF24">
              <a:alpha val="8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6027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344168" y="362102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Notifications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44168" y="40416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transactional emails for onboarding, payment confirmation, subscription renewal, and more.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46520" y="3493008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1112" y="36393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1112" y="36027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24928" y="362102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Role-Scoped Messaging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24928" y="4041648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 → Workspace Admins only. Admin → Teachers + Students. Privacy-first hierarchy enforced.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5065776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0352" y="5212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818CF8">
              <a:alpha val="8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5175504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344168" y="519379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14-Day Auto-Cleanup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44168" y="561441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Notices older than 14 days are automatically archived — no manual maintenance required.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5065776"/>
            <a:ext cx="5806440" cy="1444752"/>
          </a:xfrm>
          <a:prstGeom prst="roundRect">
            <a:avLst>
              <a:gd name="adj" fmla="val 8861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11112" y="5212080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FB7185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11112" y="5175504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424928" y="519379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Isolation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24928" y="5614416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from Workspace A cannot see notices or notifications from Workspace B. Fully isolated.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6035040" y="-3566160"/>
            <a:ext cx="13990320" cy="13990320"/>
          </a:xfrm>
          <a:prstGeom prst="ellipse">
            <a:avLst/>
          </a:prstGeom>
          <a:solidFill>
            <a:srgbClr val="10B981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69480" y="-2331720"/>
            <a:ext cx="11521440" cy="11521440"/>
          </a:xfrm>
          <a:prstGeom prst="ellipse">
            <a:avLst/>
          </a:prstGeom>
          <a:solidFill>
            <a:srgbClr val="10B981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-1097280"/>
            <a:ext cx="9052560" cy="9052560"/>
          </a:xfrm>
          <a:prstGeom prst="ellipse">
            <a:avLst/>
          </a:prstGeom>
          <a:solidFill>
            <a:srgbClr val="10B981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38360" y="137160"/>
            <a:ext cx="6583680" cy="658368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1371600"/>
            <a:ext cx="4114800" cy="411480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PAYMENTS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&amp; Billing Workflow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Transparent, admin-approved payment process with full receipt and invoice generation.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3749040" cy="1783080"/>
          </a:xfrm>
          <a:prstGeom prst="roundRect">
            <a:avLst>
              <a:gd name="adj" fmla="val 7179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039112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818CF8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03911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07008" y="20116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47088" y="20116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Requests Plan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52" y="2624328"/>
            <a:ext cx="3401568" cy="16459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271576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Admin selects a plan and initiates payment from their dashboard.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1874520"/>
            <a:ext cx="3749040" cy="1783080"/>
          </a:xfrm>
          <a:prstGeom prst="roundRect">
            <a:avLst>
              <a:gd name="adj" fmla="val 7179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07992" y="2039112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C084FC">
              <a:alpha val="7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203911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84648" y="20116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24728" y="20116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Agreement Review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07992" y="2624328"/>
            <a:ext cx="3401568" cy="16459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5" name="Text 23"/>
          <p:cNvSpPr/>
          <p:nvPr/>
        </p:nvSpPr>
        <p:spPr>
          <a:xfrm>
            <a:off x="4507992" y="271576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reads the full User Agreement, Disclaimer &amp; Refund Policy before proceeding.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21040" y="1874520"/>
            <a:ext cx="3749040" cy="1783080"/>
          </a:xfrm>
          <a:prstGeom prst="roundRect">
            <a:avLst>
              <a:gd name="adj" fmla="val 7179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85632" y="2039112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22D3EE">
              <a:alpha val="7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85632" y="203911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62288" y="201168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802368" y="201168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Agreement Accepted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85632" y="2624328"/>
            <a:ext cx="3401568" cy="16459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271576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confirms agreement — timestamped, IP-logged for legal compliance (Indian law).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794760"/>
            <a:ext cx="3749040" cy="1783080"/>
          </a:xfrm>
          <a:prstGeom prst="roundRect">
            <a:avLst>
              <a:gd name="adj" fmla="val 7179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" y="3959352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" y="395935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07008" y="393192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847088" y="39319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Processing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30352" y="4544568"/>
            <a:ext cx="3401568" cy="16459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" y="463600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payment via Razorpay/UPI/Net Banking. Payment receipt generated instantly.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43400" y="3794760"/>
            <a:ext cx="3749040" cy="1783080"/>
          </a:xfrm>
          <a:prstGeom prst="roundRect">
            <a:avLst>
              <a:gd name="adj" fmla="val 7179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07992" y="3959352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FBBF24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07992" y="395935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84648" y="393192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824728" y="39319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Activated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07992" y="4544568"/>
            <a:ext cx="3401568" cy="16459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6" name="Text 44"/>
          <p:cNvSpPr/>
          <p:nvPr/>
        </p:nvSpPr>
        <p:spPr>
          <a:xfrm>
            <a:off x="4507992" y="463600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Workspace unlocked immediately. Admin receives confirmation email with invoice PDF.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21040" y="3794760"/>
            <a:ext cx="3749040" cy="1783080"/>
          </a:xfrm>
          <a:prstGeom prst="roundRect">
            <a:avLst>
              <a:gd name="adj" fmla="val 7179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85632" y="3959352"/>
            <a:ext cx="594360" cy="475488"/>
          </a:xfrm>
          <a:prstGeom prst="roundRect">
            <a:avLst>
              <a:gd name="adj" fmla="val 15385"/>
            </a:avLst>
          </a:prstGeom>
          <a:solidFill>
            <a:srgbClr val="FB7185">
              <a:alpha val="78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85632" y="3959352"/>
            <a:ext cx="594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162288" y="3931920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9802368" y="39319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Ledger &amp; Audit Trail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85632" y="4544568"/>
            <a:ext cx="3401568" cy="16459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53" name="Text 51"/>
          <p:cNvSpPr/>
          <p:nvPr/>
        </p:nvSpPr>
        <p:spPr>
          <a:xfrm>
            <a:off x="8485632" y="4636008"/>
            <a:ext cx="3401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 sees full ledger: payment date, plan, amount, workspace ID, status.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120640" y="-3108960"/>
            <a:ext cx="13990320" cy="13990320"/>
          </a:xfrm>
          <a:prstGeom prst="ellipse">
            <a:avLst/>
          </a:prstGeom>
          <a:solidFill>
            <a:srgbClr val="F59E0B">
              <a:alpha val="9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355080" y="-1874520"/>
            <a:ext cx="11521440" cy="11521440"/>
          </a:xfrm>
          <a:prstGeom prst="ellipse">
            <a:avLst/>
          </a:prstGeom>
          <a:solidFill>
            <a:srgbClr val="F59E0B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-640080"/>
            <a:ext cx="9052560" cy="9052560"/>
          </a:xfrm>
          <a:prstGeom prst="ellipse">
            <a:avLst/>
          </a:prstGeom>
          <a:solidFill>
            <a:srgbClr val="F59E0B">
              <a:alpha val="9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823960" y="594360"/>
            <a:ext cx="6583680" cy="6583680"/>
          </a:xfrm>
          <a:prstGeom prst="ellipse">
            <a:avLst/>
          </a:prstGeom>
          <a:solidFill>
            <a:srgbClr val="F59E0B">
              <a:alpha val="91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1828800"/>
            <a:ext cx="4114800" cy="4114800"/>
          </a:xfrm>
          <a:prstGeom prst="ellipse">
            <a:avLst/>
          </a:prstGeom>
          <a:solidFill>
            <a:srgbClr val="F59E0B">
              <a:alpha val="91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FBBF24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LEGAL &amp; COMPLIANCE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Agreement &amp; Legal Compliance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Fully compliant with Indian IT Act &amp; Consumer Protection Act. Transparent for workspace admins.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5486400" cy="4754880"/>
          </a:xfrm>
          <a:prstGeom prst="roundRect">
            <a:avLst>
              <a:gd name="adj" fmla="val 2692"/>
            </a:avLst>
          </a:prstGeom>
          <a:solidFill>
            <a:srgbClr val="0B1225">
              <a:alpha val="4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Admin Agreement Covers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542032"/>
            <a:ext cx="5120640" cy="2560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594360" y="27797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523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" y="27066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is for CBT exam management — educational use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2369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95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0392" y="31638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payments are non-refundable post-activation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6941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6667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0392" y="36210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confirms they've tested the platform (demo available)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41513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239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50392" y="40782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is responsible for exam content accuracy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6085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5811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" y="45354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not liable for indirect losses or tech limitations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50657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0383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0392" y="49926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agrees to fair use — no scraping, hacking, or fraud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" y="55229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54955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" y="54498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auto-renews unless cancelled before due date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5980176"/>
            <a:ext cx="182880" cy="18288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952744"/>
            <a:ext cx="201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409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" y="5907024"/>
            <a:ext cx="4773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Governing law: India · Jurisdiction: Kolkata, West Bengal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080760" y="1920240"/>
            <a:ext cx="6126480" cy="4754880"/>
          </a:xfrm>
          <a:prstGeom prst="roundRect">
            <a:avLst>
              <a:gd name="adj" fmla="val 269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0116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71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 Key Disclaimer Points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263640" y="2542032"/>
            <a:ext cx="5760720" cy="25603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42" name="Shape 40"/>
          <p:cNvSpPr/>
          <p:nvPr/>
        </p:nvSpPr>
        <p:spPr>
          <a:xfrm>
            <a:off x="6291072" y="279806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270662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Guarantee of Results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92240" y="294436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Outcomes depend on user input, usage, and external factors.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91072" y="339242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46" name="Text 44"/>
          <p:cNvSpPr/>
          <p:nvPr/>
        </p:nvSpPr>
        <p:spPr>
          <a:xfrm>
            <a:off x="6492240" y="330098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Usage Responsibility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92240" y="35387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solely responsible for exam content, verification &amp; fair practices.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91072" y="398678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389534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Limitations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92240" y="41330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continuity not guaranteed; disruptions may occur.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291072" y="458114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2" name="Text 50"/>
          <p:cNvSpPr/>
          <p:nvPr/>
        </p:nvSpPr>
        <p:spPr>
          <a:xfrm>
            <a:off x="6492240" y="448970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Limitation of Liability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92240" y="472744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 Exam Hub not liable for direct/indirect losses or disputes.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291072" y="517550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5" name="Text 53"/>
          <p:cNvSpPr/>
          <p:nvPr/>
        </p:nvSpPr>
        <p:spPr>
          <a:xfrm>
            <a:off x="6492240" y="508406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Third-Party Services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492240" y="532180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responsible for issues from hosting, payment, or analytics partners.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91072" y="576986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58" name="Text 56"/>
          <p:cNvSpPr/>
          <p:nvPr/>
        </p:nvSpPr>
        <p:spPr>
          <a:xfrm>
            <a:off x="6492240" y="567842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Use &amp; Misconduct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92240" y="591616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Hacking/scraping = immediate suspension + permanent ban + legal action.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291072" y="6364224"/>
            <a:ext cx="128016" cy="12801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61" name="Text 59"/>
          <p:cNvSpPr/>
          <p:nvPr/>
        </p:nvSpPr>
        <p:spPr>
          <a:xfrm>
            <a:off x="6492240" y="6272784"/>
            <a:ext cx="5577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Jurisdiction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92240" y="65105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by laws of India. Kolkata, West Bengal.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029200" y="-4572000"/>
            <a:ext cx="15544800" cy="15544800"/>
          </a:xfrm>
          <a:prstGeom prst="ellipse">
            <a:avLst/>
          </a:prstGeom>
          <a:solidFill>
            <a:srgbClr val="06B6D4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3200400"/>
            <a:ext cx="12801600" cy="12801600"/>
          </a:xfrm>
          <a:prstGeom prst="ellipse">
            <a:avLst/>
          </a:prstGeom>
          <a:solidFill>
            <a:srgbClr val="06B6D4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-1828800"/>
            <a:ext cx="10058400" cy="10058400"/>
          </a:xfrm>
          <a:prstGeom prst="ellipse">
            <a:avLst/>
          </a:prstGeom>
          <a:solidFill>
            <a:srgbClr val="06B6D4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44000" y="-457200"/>
            <a:ext cx="7315200" cy="731520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0" y="914400"/>
            <a:ext cx="4572000" cy="4572000"/>
          </a:xfrm>
          <a:prstGeom prst="ellipse">
            <a:avLst/>
          </a:prstGeom>
          <a:solidFill>
            <a:srgbClr val="06B6D4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3108960" y="1645920"/>
            <a:ext cx="10881360" cy="10881360"/>
          </a:xfrm>
          <a:prstGeom prst="ellipse">
            <a:avLst/>
          </a:prstGeom>
          <a:solidFill>
            <a:srgbClr val="F59E0B">
              <a:alpha val="9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-2148840" y="2606040"/>
            <a:ext cx="8961120" cy="8961120"/>
          </a:xfrm>
          <a:prstGeom prst="ellipse">
            <a:avLst/>
          </a:prstGeom>
          <a:solidFill>
            <a:srgbClr val="F59E0B">
              <a:alpha val="9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-1188720" y="3566160"/>
            <a:ext cx="7040880" cy="7040880"/>
          </a:xfrm>
          <a:prstGeom prst="ellipse">
            <a:avLst/>
          </a:prstGeom>
          <a:solidFill>
            <a:srgbClr val="F59E0B">
              <a:alpha val="9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-228600" y="4526280"/>
            <a:ext cx="5120640" cy="5120640"/>
          </a:xfrm>
          <a:prstGeom prst="ellipse">
            <a:avLst/>
          </a:prstGeom>
          <a:solidFill>
            <a:srgbClr val="F59E0B">
              <a:alpha val="9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5486400"/>
            <a:ext cx="3200400" cy="3200400"/>
          </a:xfrm>
          <a:prstGeom prst="ellipse">
            <a:avLst/>
          </a:prstGeom>
          <a:solidFill>
            <a:srgbClr val="F59E0B">
              <a:alpha val="9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22D3EE">
              <a:alpha val="7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VALUE PROPOSITION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Choose ABCD Exam Hub?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competitive edge that makes us the right choice for your institute.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1874520"/>
            <a:ext cx="5806440" cy="1481328"/>
          </a:xfrm>
          <a:prstGeom prst="roundRect">
            <a:avLst>
              <a:gd name="adj" fmla="val 864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0391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FBBF24">
              <a:alpha val="82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0025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44168" y="20025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Made for Indian Institutes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44168" y="24231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Indian education workflow in mind — Hindi/English support, INR pricing, Razorpay integration.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46520" y="1874520"/>
            <a:ext cx="5806440" cy="1481328"/>
          </a:xfrm>
          <a:prstGeom prst="roundRect">
            <a:avLst>
              <a:gd name="adj" fmla="val 864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11112" y="20391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818CF8">
              <a:alpha val="82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20025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24928" y="20025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in Under 10 Minutes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24928" y="24231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complex training needed. Onboard, create your first exam, and go live in a single session.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5806440" cy="1481328"/>
          </a:xfrm>
          <a:prstGeom prst="roundRect">
            <a:avLst>
              <a:gd name="adj" fmla="val 864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36393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C084FC">
              <a:alpha val="82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36027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44168" y="36027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Does the Heavy Lifting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44168" y="40233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 AI generates entire question sets from a topic prompt — saving hours of manual work.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46520" y="3474720"/>
            <a:ext cx="5806440" cy="1481328"/>
          </a:xfrm>
          <a:prstGeom prst="roundRect">
            <a:avLst>
              <a:gd name="adj" fmla="val 864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11112" y="36393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FB7185">
              <a:alpha val="82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36027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424928" y="36027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Exam Integrity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24928" y="40233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 detection, time locks, draft save, password gates — comprehensive anti-cheat without extra tools.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5074920"/>
            <a:ext cx="5806440" cy="1481328"/>
          </a:xfrm>
          <a:prstGeom prst="roundRect">
            <a:avLst>
              <a:gd name="adj" fmla="val 864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52395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34D399">
              <a:alpha val="82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52029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344168" y="52029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Analytics, Not Just Reports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44168" y="56235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Topic-wise weak spots, cohort pass rates, AI recommendations — intelligence that drives teaching.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46520" y="5074920"/>
            <a:ext cx="5806440" cy="1481328"/>
          </a:xfrm>
          <a:prstGeom prst="roundRect">
            <a:avLst>
              <a:gd name="adj" fmla="val 8642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11112" y="5239512"/>
            <a:ext cx="658368" cy="658368"/>
          </a:xfrm>
          <a:prstGeom prst="roundRect">
            <a:avLst>
              <a:gd name="adj" fmla="val 12500"/>
            </a:avLst>
          </a:prstGeom>
          <a:solidFill>
            <a:srgbClr val="22D3EE">
              <a:alpha val="82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5202936"/>
            <a:ext cx="658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424928" y="520293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Pricing, No Per-Seat Surprises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424928" y="5623560"/>
            <a:ext cx="4663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a flat monthly fee. Add 1 student or 1,000 — within your plan, cost stays fixed.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548640" y="-4297680"/>
            <a:ext cx="18653760" cy="18653760"/>
          </a:xfrm>
          <a:prstGeom prst="ellipse">
            <a:avLst/>
          </a:prstGeom>
          <a:solidFill>
            <a:srgbClr val="EAB308">
              <a:alpha val="9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-2651760"/>
            <a:ext cx="15361920" cy="15361920"/>
          </a:xfrm>
          <a:prstGeom prst="ellipse">
            <a:avLst/>
          </a:prstGeom>
          <a:solidFill>
            <a:srgbClr val="EAB308">
              <a:alpha val="9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-1005840"/>
            <a:ext cx="12070080" cy="12070080"/>
          </a:xfrm>
          <a:prstGeom prst="ellipse">
            <a:avLst/>
          </a:prstGeom>
          <a:solidFill>
            <a:srgbClr val="EAB308">
              <a:alpha val="9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389120" y="640080"/>
            <a:ext cx="8778240" cy="8778240"/>
          </a:xfrm>
          <a:prstGeom prst="ellipse">
            <a:avLst/>
          </a:prstGeom>
          <a:solidFill>
            <a:srgbClr val="EAB308">
              <a:alpha val="9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35040" y="2286000"/>
            <a:ext cx="5486400" cy="5486400"/>
          </a:xfrm>
          <a:prstGeom prst="ellipse">
            <a:avLst/>
          </a:prstGeom>
          <a:solidFill>
            <a:srgbClr val="EAB308">
              <a:alpha val="9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FBBF24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TESTIMONIALS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Admins Are Saying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Real feedback from workspace admins who are running exams on ABCD Exam Hub.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3749040" cy="4389120"/>
          </a:xfrm>
          <a:prstGeom prst="roundRect">
            <a:avLst>
              <a:gd name="adj" fmla="val 3415"/>
            </a:avLst>
          </a:prstGeom>
          <a:solidFill>
            <a:srgbClr val="0B1225">
              <a:alpha val="4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1051560"/>
            <a:ext cx="3108960" cy="3108960"/>
          </a:xfrm>
          <a:prstGeom prst="ellipse">
            <a:avLst/>
          </a:prstGeom>
          <a:solidFill>
            <a:srgbClr val="EAB308">
              <a:alpha val="97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325880"/>
            <a:ext cx="2560320" cy="2560320"/>
          </a:xfrm>
          <a:prstGeom prst="ellipse">
            <a:avLst/>
          </a:prstGeom>
          <a:solidFill>
            <a:srgbClr val="EAB308">
              <a:alpha val="9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17520" y="1600200"/>
            <a:ext cx="2011680" cy="2011680"/>
          </a:xfrm>
          <a:prstGeom prst="ellipse">
            <a:avLst/>
          </a:prstGeom>
          <a:solidFill>
            <a:srgbClr val="EAB308">
              <a:alpha val="91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874520"/>
            <a:ext cx="1463040" cy="1463040"/>
          </a:xfrm>
          <a:prstGeom prst="ellipse">
            <a:avLst/>
          </a:prstGeom>
          <a:solidFill>
            <a:srgbClr val="EAB308">
              <a:alpha val="8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566160" y="2148840"/>
            <a:ext cx="914400" cy="914400"/>
          </a:xfrm>
          <a:prstGeom prst="ellipse">
            <a:avLst/>
          </a:prstGeom>
          <a:solidFill>
            <a:srgbClr val="EAB308">
              <a:alpha val="8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99339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0352" y="2606040"/>
            <a:ext cx="340156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switched from paper exams to ABCD Exam Hub in one week. The AI MCQ tool saved us 20+ hours of question paper preparation. Results are instant and students love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3383280" cy="2560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60704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16736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72768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" y="559612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 Sharma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596188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Admin, Excel Coaching Centre, Kolkata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1920240"/>
            <a:ext cx="3749040" cy="4389120"/>
          </a:xfrm>
          <a:prstGeom prst="roundRect">
            <a:avLst>
              <a:gd name="adj" fmla="val 3415"/>
            </a:avLst>
          </a:prstGeom>
          <a:solidFill>
            <a:srgbClr val="0B1225">
              <a:alpha val="4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46520" y="1051560"/>
            <a:ext cx="3108960" cy="3108960"/>
          </a:xfrm>
          <a:prstGeom prst="ellipse">
            <a:avLst/>
          </a:prstGeom>
          <a:solidFill>
            <a:srgbClr val="EAB308">
              <a:alpha val="97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720840" y="1325880"/>
            <a:ext cx="2560320" cy="2560320"/>
          </a:xfrm>
          <a:prstGeom prst="ellipse">
            <a:avLst/>
          </a:prstGeom>
          <a:solidFill>
            <a:srgbClr val="EAB308">
              <a:alpha val="94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995160" y="1600200"/>
            <a:ext cx="2011680" cy="2011680"/>
          </a:xfrm>
          <a:prstGeom prst="ellipse">
            <a:avLst/>
          </a:prstGeom>
          <a:solidFill>
            <a:srgbClr val="EAB308">
              <a:alpha val="91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269480" y="1874520"/>
            <a:ext cx="1463040" cy="1463040"/>
          </a:xfrm>
          <a:prstGeom prst="ellipse">
            <a:avLst/>
          </a:prstGeom>
          <a:solidFill>
            <a:srgbClr val="EAB308">
              <a:alpha val="8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43800" y="2148840"/>
            <a:ext cx="914400" cy="914400"/>
          </a:xfrm>
          <a:prstGeom prst="ellipse">
            <a:avLst/>
          </a:prstGeom>
          <a:solidFill>
            <a:srgbClr val="EAB308">
              <a:alpha val="8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199339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4507992" y="2606040"/>
            <a:ext cx="340156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tab detection and draft-save features are brilliant. Our students no longer lose progress due to connectivity issues, and we can trust the integrity of every exam.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26280" y="5120640"/>
            <a:ext cx="3383280" cy="2560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782312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038344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294376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550408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07992" y="559612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Rajesh Kumar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07992" y="596188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Director, TechPrep Institute, Patna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21040" y="1920240"/>
            <a:ext cx="3749040" cy="4389120"/>
          </a:xfrm>
          <a:prstGeom prst="roundRect">
            <a:avLst>
              <a:gd name="adj" fmla="val 3415"/>
            </a:avLst>
          </a:prstGeom>
          <a:solidFill>
            <a:srgbClr val="0B1225">
              <a:alpha val="4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24160" y="1051560"/>
            <a:ext cx="3108960" cy="3108960"/>
          </a:xfrm>
          <a:prstGeom prst="ellipse">
            <a:avLst/>
          </a:prstGeom>
          <a:solidFill>
            <a:srgbClr val="EAB308">
              <a:alpha val="97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0698480" y="1325880"/>
            <a:ext cx="2560320" cy="2560320"/>
          </a:xfrm>
          <a:prstGeom prst="ellipse">
            <a:avLst/>
          </a:prstGeom>
          <a:solidFill>
            <a:srgbClr val="EAB308">
              <a:alpha val="94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972800" y="1600200"/>
            <a:ext cx="2011680" cy="2011680"/>
          </a:xfrm>
          <a:prstGeom prst="ellipse">
            <a:avLst/>
          </a:prstGeom>
          <a:solidFill>
            <a:srgbClr val="EAB308">
              <a:alpha val="91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247120" y="1874520"/>
            <a:ext cx="1463040" cy="1463040"/>
          </a:xfrm>
          <a:prstGeom prst="ellipse">
            <a:avLst/>
          </a:prstGeom>
          <a:solidFill>
            <a:srgbClr val="EAB308">
              <a:alpha val="8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1521440" y="2148840"/>
            <a:ext cx="914400" cy="914400"/>
          </a:xfrm>
          <a:prstGeom prst="ellipse">
            <a:avLst/>
          </a:prstGeom>
          <a:solidFill>
            <a:srgbClr val="EAB308">
              <a:alpha val="88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8503920" y="199339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8485632" y="2606040"/>
            <a:ext cx="340156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Flat monthly pricing with unlimited exams within the plan is a game changer. We run 30+ exams a month and pay the same fixed cost.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8503920" y="5120640"/>
            <a:ext cx="3383280" cy="25603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8503920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8759952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9015984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9272016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9528048" y="5212080"/>
            <a:ext cx="256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AB3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485632" y="5596128"/>
            <a:ext cx="3401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Anita Bose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8485632" y="5961888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Head, Future Academy, Mumbai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6035040" y="-4023360"/>
            <a:ext cx="13990320" cy="13990320"/>
          </a:xfrm>
          <a:prstGeom prst="ellipse">
            <a:avLst/>
          </a:prstGeom>
          <a:solidFill>
            <a:srgbClr val="10B981">
              <a:alpha val="9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69480" y="-2788920"/>
            <a:ext cx="11521440" cy="11521440"/>
          </a:xfrm>
          <a:prstGeom prst="ellipse">
            <a:avLst/>
          </a:prstGeom>
          <a:solidFill>
            <a:srgbClr val="10B981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-1554480"/>
            <a:ext cx="9052560" cy="9052560"/>
          </a:xfrm>
          <a:prstGeom prst="ellipse">
            <a:avLst/>
          </a:prstGeom>
          <a:solidFill>
            <a:srgbClr val="10B981">
              <a:alpha val="9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38360" y="-320040"/>
            <a:ext cx="6583680" cy="658368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0" y="914400"/>
            <a:ext cx="4114800" cy="4114800"/>
          </a:xfrm>
          <a:prstGeom prst="ellipse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256032"/>
            <a:ext cx="2926080" cy="329184"/>
          </a:xfrm>
          <a:prstGeom prst="roundRect">
            <a:avLst>
              <a:gd name="adj" fmla="val 19444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6032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ONBOARDING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114300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 in 5 Simple Steps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11480" y="14630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4A3B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From registration to your first live exam — in under 30 minutes.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1920240"/>
            <a:ext cx="2240280" cy="4389120"/>
          </a:xfrm>
          <a:prstGeom prst="roundRect">
            <a:avLst>
              <a:gd name="adj" fmla="val 5714"/>
            </a:avLst>
          </a:prstGeom>
          <a:solidFill>
            <a:srgbClr val="0B1225">
              <a:alpha val="4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" y="1344168"/>
            <a:ext cx="2798064" cy="2798064"/>
          </a:xfrm>
          <a:prstGeom prst="ellipse">
            <a:avLst/>
          </a:prstGeom>
          <a:solidFill>
            <a:srgbClr val="818CF8">
              <a:alpha val="9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56616" y="1591056"/>
            <a:ext cx="2304288" cy="2304288"/>
          </a:xfrm>
          <a:prstGeom prst="ellipse">
            <a:avLst/>
          </a:prstGeom>
          <a:solidFill>
            <a:srgbClr val="818CF8">
              <a:alpha val="91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3504" y="1837944"/>
            <a:ext cx="1810512" cy="1810512"/>
          </a:xfrm>
          <a:prstGeom prst="ellipse">
            <a:avLst/>
          </a:prstGeom>
          <a:solidFill>
            <a:srgbClr val="818CF8">
              <a:alpha val="8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" y="2084832"/>
            <a:ext cx="1316736" cy="1316736"/>
          </a:xfrm>
          <a:prstGeom prst="ellipse">
            <a:avLst/>
          </a:prstGeom>
          <a:solidFill>
            <a:srgbClr val="818CF8">
              <a:alpha val="8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97280" y="2331720"/>
            <a:ext cx="822960" cy="822960"/>
          </a:xfrm>
          <a:prstGeom prst="ellipse">
            <a:avLst/>
          </a:prstGeom>
          <a:solidFill>
            <a:srgbClr val="818CF8">
              <a:alpha val="8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70432" y="201168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818CF8">
              <a:alpha val="78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201168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248716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94360" y="3337560"/>
            <a:ext cx="1783080" cy="25603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Workspace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913632"/>
            <a:ext cx="20574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Admin creates your workspace. You receive login credentials via email.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1920240"/>
            <a:ext cx="2240280" cy="4389120"/>
          </a:xfrm>
          <a:prstGeom prst="roundRect">
            <a:avLst>
              <a:gd name="adj" fmla="val 5714"/>
            </a:avLst>
          </a:prstGeom>
          <a:solidFill>
            <a:srgbClr val="0B1225">
              <a:alpha val="4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87168" y="1344168"/>
            <a:ext cx="2798064" cy="2798064"/>
          </a:xfrm>
          <a:prstGeom prst="ellipse">
            <a:avLst/>
          </a:prstGeom>
          <a:solidFill>
            <a:srgbClr val="C084FC">
              <a:alpha val="9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734056" y="1591056"/>
            <a:ext cx="2304288" cy="2304288"/>
          </a:xfrm>
          <a:prstGeom prst="ellipse">
            <a:avLst/>
          </a:prstGeom>
          <a:solidFill>
            <a:srgbClr val="C084FC">
              <a:alpha val="91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980944" y="1837944"/>
            <a:ext cx="1810512" cy="1810512"/>
          </a:xfrm>
          <a:prstGeom prst="ellipse">
            <a:avLst/>
          </a:prstGeom>
          <a:solidFill>
            <a:srgbClr val="C084FC">
              <a:alpha val="8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27832" y="2084832"/>
            <a:ext cx="1316736" cy="1316736"/>
          </a:xfrm>
          <a:prstGeom prst="ellipse">
            <a:avLst/>
          </a:prstGeom>
          <a:solidFill>
            <a:srgbClr val="C084FC">
              <a:alpha val="8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74720" y="2331720"/>
            <a:ext cx="822960" cy="822960"/>
          </a:xfrm>
          <a:prstGeom prst="ellipse">
            <a:avLst/>
          </a:prstGeom>
          <a:solidFill>
            <a:srgbClr val="C084FC">
              <a:alpha val="82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547872" y="201168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C084FC">
              <a:alpha val="78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201168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84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43200" y="248716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2971800" y="3337560"/>
            <a:ext cx="1783080" cy="25603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4" name="Text 32"/>
          <p:cNvSpPr/>
          <p:nvPr/>
        </p:nvSpPr>
        <p:spPr>
          <a:xfrm>
            <a:off x="283464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&amp; Pay Plan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34640" y="3913632"/>
            <a:ext cx="20574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your subscription plan, read the agreement, and complete payment securely.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1920240"/>
            <a:ext cx="2240280" cy="4389120"/>
          </a:xfrm>
          <a:prstGeom prst="roundRect">
            <a:avLst>
              <a:gd name="adj" fmla="val 5714"/>
            </a:avLst>
          </a:prstGeom>
          <a:solidFill>
            <a:srgbClr val="0B1225">
              <a:alpha val="4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1344168"/>
            <a:ext cx="2798064" cy="2798064"/>
          </a:xfrm>
          <a:prstGeom prst="ellipse">
            <a:avLst/>
          </a:prstGeom>
          <a:solidFill>
            <a:srgbClr val="22D3EE">
              <a:alpha val="9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11496" y="1591056"/>
            <a:ext cx="2304288" cy="2304288"/>
          </a:xfrm>
          <a:prstGeom prst="ellipse">
            <a:avLst/>
          </a:prstGeom>
          <a:solidFill>
            <a:srgbClr val="22D3EE">
              <a:alpha val="91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58384" y="1837944"/>
            <a:ext cx="1810512" cy="1810512"/>
          </a:xfrm>
          <a:prstGeom prst="ellipse">
            <a:avLst/>
          </a:prstGeom>
          <a:solidFill>
            <a:srgbClr val="22D3EE">
              <a:alpha val="8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605272" y="2084832"/>
            <a:ext cx="1316736" cy="1316736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852160" y="2331720"/>
            <a:ext cx="822960" cy="822960"/>
          </a:xfrm>
          <a:prstGeom prst="ellipse">
            <a:avLst/>
          </a:prstGeom>
          <a:solidFill>
            <a:srgbClr val="22D3EE">
              <a:alpha val="82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25312" y="201168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22D3EE">
              <a:alpha val="78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201168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120640" y="248716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👩‍🏫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5349240" y="3337560"/>
            <a:ext cx="1783080" cy="25603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Teachers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12080" y="3913632"/>
            <a:ext cx="20574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Invite teachers via email. They get role-based access immediately upon signup.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98080" y="1920240"/>
            <a:ext cx="2240280" cy="4389120"/>
          </a:xfrm>
          <a:prstGeom prst="roundRect">
            <a:avLst>
              <a:gd name="adj" fmla="val 5714"/>
            </a:avLst>
          </a:prstGeom>
          <a:solidFill>
            <a:srgbClr val="0B1225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42048" y="1344168"/>
            <a:ext cx="2798064" cy="2798064"/>
          </a:xfrm>
          <a:prstGeom prst="ellipse">
            <a:avLst/>
          </a:prstGeom>
          <a:solidFill>
            <a:srgbClr val="34D399">
              <a:alpha val="9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88936" y="1591056"/>
            <a:ext cx="2304288" cy="2304288"/>
          </a:xfrm>
          <a:prstGeom prst="ellipse">
            <a:avLst/>
          </a:prstGeom>
          <a:solidFill>
            <a:srgbClr val="34D399">
              <a:alpha val="91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735824" y="1837944"/>
            <a:ext cx="1810512" cy="1810512"/>
          </a:xfrm>
          <a:prstGeom prst="ellipse">
            <a:avLst/>
          </a:prstGeom>
          <a:solidFill>
            <a:srgbClr val="34D399">
              <a:alpha val="86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982712" y="2084832"/>
            <a:ext cx="1316736" cy="1316736"/>
          </a:xfrm>
          <a:prstGeom prst="ellipse">
            <a:avLst/>
          </a:prstGeom>
          <a:solidFill>
            <a:srgbClr val="34D399">
              <a:alpha val="82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229600" y="2331720"/>
            <a:ext cx="822960" cy="822960"/>
          </a:xfrm>
          <a:prstGeom prst="ellipse">
            <a:avLst/>
          </a:prstGeom>
          <a:solidFill>
            <a:srgbClr val="34D399">
              <a:alpha val="8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02752" y="201168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34D399">
              <a:alpha val="7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02752" y="201168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7498080" y="248716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57" name="Shape 55"/>
          <p:cNvSpPr/>
          <p:nvPr/>
        </p:nvSpPr>
        <p:spPr>
          <a:xfrm>
            <a:off x="7726680" y="3337560"/>
            <a:ext cx="1783080" cy="25603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8" name="Text 56"/>
          <p:cNvSpPr/>
          <p:nvPr/>
        </p:nvSpPr>
        <p:spPr>
          <a:xfrm>
            <a:off x="758952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Question Bank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589520" y="3913632"/>
            <a:ext cx="20574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questions manually or use AI MCQ generator to bulk-create your question library.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875520" y="1920240"/>
            <a:ext cx="2240280" cy="4389120"/>
          </a:xfrm>
          <a:prstGeom prst="roundRect">
            <a:avLst>
              <a:gd name="adj" fmla="val 5714"/>
            </a:avLst>
          </a:prstGeom>
          <a:solidFill>
            <a:srgbClr val="0B1225">
              <a:alpha val="4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619488" y="1344168"/>
            <a:ext cx="2798064" cy="2798064"/>
          </a:xfrm>
          <a:prstGeom prst="ellipse">
            <a:avLst/>
          </a:prstGeom>
          <a:solidFill>
            <a:srgbClr val="FBBF24">
              <a:alpha val="9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866376" y="1591056"/>
            <a:ext cx="2304288" cy="2304288"/>
          </a:xfrm>
          <a:prstGeom prst="ellipse">
            <a:avLst/>
          </a:prstGeom>
          <a:solidFill>
            <a:srgbClr val="FBBF24">
              <a:alpha val="91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0113264" y="1837944"/>
            <a:ext cx="1810512" cy="1810512"/>
          </a:xfrm>
          <a:prstGeom prst="ellipse">
            <a:avLst/>
          </a:prstGeom>
          <a:solidFill>
            <a:srgbClr val="FBBF24">
              <a:alpha val="86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360152" y="2084832"/>
            <a:ext cx="1316736" cy="1316736"/>
          </a:xfrm>
          <a:prstGeom prst="ellipse">
            <a:avLst/>
          </a:prstGeom>
          <a:solidFill>
            <a:srgbClr val="FBBF24">
              <a:alpha val="82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607040" y="2331720"/>
            <a:ext cx="822960" cy="822960"/>
          </a:xfrm>
          <a:prstGeom prst="ellipse">
            <a:avLst/>
          </a:prstGeom>
          <a:solidFill>
            <a:srgbClr val="FBBF24">
              <a:alpha val="82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680192" y="2011680"/>
            <a:ext cx="566928" cy="402336"/>
          </a:xfrm>
          <a:prstGeom prst="roundRect">
            <a:avLst>
              <a:gd name="adj" fmla="val 18182"/>
            </a:avLst>
          </a:prstGeom>
          <a:solidFill>
            <a:srgbClr val="FBBF24">
              <a:alpha val="7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680192" y="2011680"/>
            <a:ext cx="566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9875520" y="248716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69" name="Shape 67"/>
          <p:cNvSpPr/>
          <p:nvPr/>
        </p:nvSpPr>
        <p:spPr>
          <a:xfrm>
            <a:off x="10104120" y="3337560"/>
            <a:ext cx="1783080" cy="25603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0" name="Text 68"/>
          <p:cNvSpPr/>
          <p:nvPr/>
        </p:nvSpPr>
        <p:spPr>
          <a:xfrm>
            <a:off x="996696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Your First Exam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966960" y="3913632"/>
            <a:ext cx="20574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an exam, configure settings, publish — students can start in minutes!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65760" y="6492240"/>
            <a:ext cx="11475720" cy="457200"/>
          </a:xfrm>
          <a:prstGeom prst="roundRect">
            <a:avLst>
              <a:gd name="adj" fmla="val 28000"/>
            </a:avLst>
          </a:prstGeom>
          <a:solidFill>
            <a:srgbClr val="0B1225">
              <a:alpha val="45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" y="64922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Demo available before commitment  ·  📞 Support team available during onboarding  ·  📖 Full documentation provided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5486400" y="-7589520"/>
            <a:ext cx="27980640" cy="27980640"/>
          </a:xfrm>
          <a:prstGeom prst="ellipse">
            <a:avLst/>
          </a:prstGeom>
          <a:solidFill>
            <a:srgbClr val="6366F1">
              <a:alpha val="9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3017520" y="-5120640"/>
            <a:ext cx="23042880" cy="23042880"/>
          </a:xfrm>
          <a:prstGeom prst="ellipse">
            <a:avLst/>
          </a:prstGeom>
          <a:solidFill>
            <a:srgbClr val="6366F1">
              <a:alpha val="9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548640" y="-2651760"/>
            <a:ext cx="18105120" cy="18105120"/>
          </a:xfrm>
          <a:prstGeom prst="ellipse">
            <a:avLst/>
          </a:prstGeom>
          <a:solidFill>
            <a:srgbClr val="6366F1">
              <a:alpha val="8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-182880"/>
            <a:ext cx="13167360" cy="13167360"/>
          </a:xfrm>
          <a:prstGeom prst="ellipse">
            <a:avLst/>
          </a:prstGeom>
          <a:solidFill>
            <a:srgbClr val="6366F1">
              <a:alpha val="8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389120" y="2286000"/>
            <a:ext cx="8229600" cy="8229600"/>
          </a:xfrm>
          <a:prstGeom prst="ellipse">
            <a:avLst/>
          </a:prstGeom>
          <a:solidFill>
            <a:srgbClr val="6366F1">
              <a:alpha val="8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-457200"/>
            <a:ext cx="15544800" cy="15544800"/>
          </a:xfrm>
          <a:prstGeom prst="ellipse">
            <a:avLst/>
          </a:prstGeom>
          <a:solidFill>
            <a:srgbClr val="A855F7">
              <a:alpha val="97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486400" y="914400"/>
            <a:ext cx="12801600" cy="12801600"/>
          </a:xfrm>
          <a:prstGeom prst="ellipse">
            <a:avLst/>
          </a:prstGeom>
          <a:solidFill>
            <a:srgbClr val="A855F7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2286000"/>
            <a:ext cx="10058400" cy="10058400"/>
          </a:xfrm>
          <a:prstGeom prst="ellipse">
            <a:avLst/>
          </a:prstGeom>
          <a:solidFill>
            <a:srgbClr val="A855F7">
              <a:alpha val="9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0" y="3657600"/>
            <a:ext cx="7315200" cy="73152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0" y="5029200"/>
            <a:ext cx="4572000" cy="4572000"/>
          </a:xfrm>
          <a:prstGeom prst="ellipse">
            <a:avLst/>
          </a:prstGeom>
          <a:solidFill>
            <a:srgbClr val="A855F7">
              <a:alpha val="9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-3383280" y="2103120"/>
            <a:ext cx="10881360" cy="10881360"/>
          </a:xfrm>
          <a:prstGeom prst="ellipse">
            <a:avLst/>
          </a:prstGeom>
          <a:solidFill>
            <a:srgbClr val="06B6D4">
              <a:alpha val="9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-2423160" y="3063240"/>
            <a:ext cx="8961120" cy="8961120"/>
          </a:xfrm>
          <a:prstGeom prst="ellipse">
            <a:avLst/>
          </a:prstGeom>
          <a:solidFill>
            <a:srgbClr val="06B6D4">
              <a:alpha val="9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-1463040" y="4023360"/>
            <a:ext cx="7040880" cy="7040880"/>
          </a:xfrm>
          <a:prstGeom prst="ellipse">
            <a:avLst/>
          </a:prstGeom>
          <a:solidFill>
            <a:srgbClr val="06B6D4">
              <a:alpha val="9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-502920" y="4983480"/>
            <a:ext cx="5120640" cy="5120640"/>
          </a:xfrm>
          <a:prstGeom prst="ellipse">
            <a:avLst/>
          </a:prstGeom>
          <a:solidFill>
            <a:srgbClr val="06B6D4">
              <a:alpha val="9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5943600"/>
            <a:ext cx="3200400" cy="3200400"/>
          </a:xfrm>
          <a:prstGeom prst="ellipse">
            <a:avLst/>
          </a:prstGeom>
          <a:solidFill>
            <a:srgbClr val="06B6D4">
              <a:alpha val="9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2296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91440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9728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8872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2801600" y="0"/>
            <a:ext cx="4572" cy="6858000"/>
          </a:xfrm>
          <a:prstGeom prst="rect">
            <a:avLst/>
          </a:prstGeom>
          <a:solidFill>
            <a:srgbClr val="FFFFFF">
              <a:alpha val="98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to Transform</a:t>
            </a:r>
            <a:endParaRPr lang="en-US" sz="4200" dirty="0"/>
          </a:p>
        </p:txBody>
      </p:sp>
      <p:sp>
        <p:nvSpPr>
          <p:cNvPr id="34" name="Text 32"/>
          <p:cNvSpPr/>
          <p:nvPr/>
        </p:nvSpPr>
        <p:spPr>
          <a:xfrm>
            <a:off x="731520" y="1627632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Institute's Exams?</a:t>
            </a:r>
            <a:endParaRPr lang="en-US" sz="4200" dirty="0"/>
          </a:p>
        </p:txBody>
      </p:sp>
      <p:sp>
        <p:nvSpPr>
          <p:cNvPr id="35" name="Shape 33"/>
          <p:cNvSpPr/>
          <p:nvPr/>
        </p:nvSpPr>
        <p:spPr>
          <a:xfrm>
            <a:off x="3200400" y="2633472"/>
            <a:ext cx="5760720" cy="25603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2816352"/>
            <a:ext cx="9418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 Exam Hub gives you everything a workspace admin needs</a:t>
            </a:r>
            <a:endParaRPr lang="en-US" sz="1500" dirty="0"/>
          </a:p>
          <a:p>
            <a:pPr marL="0" indent="0" algn="ctr">
              <a:lnSpc>
                <a:spcPct val="145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run fair, smart, and scalable CBT examinations — powered by AI.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920240" y="4069080"/>
            <a:ext cx="4114800" cy="804672"/>
          </a:xfrm>
          <a:prstGeom prst="roundRect">
            <a:avLst>
              <a:gd name="adj" fmla="val 13636"/>
            </a:avLst>
          </a:prstGeom>
          <a:ln/>
        </p:spPr>
      </p:sp>
      <p:sp>
        <p:nvSpPr>
          <p:cNvPr id="38" name="Text 36"/>
          <p:cNvSpPr/>
          <p:nvPr/>
        </p:nvSpPr>
        <p:spPr>
          <a:xfrm>
            <a:off x="1920240" y="406908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 Request Workspace Access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172200" y="4069080"/>
            <a:ext cx="4114800" cy="804672"/>
          </a:xfrm>
          <a:prstGeom prst="roundRect">
            <a:avLst>
              <a:gd name="adj" fmla="val 13636"/>
            </a:avLst>
          </a:prstGeom>
          <a:solidFill>
            <a:srgbClr val="0B1225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406908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Schedule a Demo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65760" y="5102352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1023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Exam Builder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364992" y="5102352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4992" y="51023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MCQ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64224" y="5102352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64224" y="51023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Draft AutoSave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363456" y="5102352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363456" y="510235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Negative Marks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5577840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5577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3 Result Modes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64992" y="5577840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64992" y="5577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Tab Guard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64224" y="5577840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64224" y="5577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Analytics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9363456" y="5577840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363456" y="5577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AI Recommendations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65760" y="6053328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6053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Notice System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364992" y="6053328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64992" y="6053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Payment Flow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64224" y="6053328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64224" y="6053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Agreement &amp; Legal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363456" y="6053328"/>
            <a:ext cx="2834640" cy="347472"/>
          </a:xfrm>
          <a:prstGeom prst="roundRect">
            <a:avLst>
              <a:gd name="adj" fmla="val 18421"/>
            </a:avLst>
          </a:prstGeom>
          <a:solidFill>
            <a:srgbClr val="0F1A30">
              <a:alpha val="28000"/>
            </a:srgbClr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363456" y="60533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 Multi-Tenant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57200" y="658368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abcdexamhub.app  ·  Contact your Super Admin for workspace activation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2341</Words>
  <Application>Microsoft Office PowerPoint</Application>
  <PresentationFormat>Widescreen</PresentationFormat>
  <Paragraphs>467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Georgia</vt:lpstr>
      <vt:lpstr>Segoe UI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ABCD Exam Hub – Workspace Admin Pitch v3</dc:title>
  <dc:subject>CBT Exam &amp; Results Management Platform</dc:subject>
  <dc:creator>ABCD Exam Hub</dc:creator>
  <cp:lastModifiedBy>SUMAN BAIDYA</cp:lastModifiedBy>
  <cp:revision>2</cp:revision>
  <dcterms:created xsi:type="dcterms:W3CDTF">2026-04-17T02:58:04Z</dcterms:created>
  <dcterms:modified xsi:type="dcterms:W3CDTF">2026-04-17T03:26:47Z</dcterms:modified>
</cp:coreProperties>
</file>