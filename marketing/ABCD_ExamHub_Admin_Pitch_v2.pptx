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4914900" y="-4503420"/>
            <a:ext cx="12573000" cy="12573000"/>
          </a:xfrm>
          <a:prstGeom prst="ellipse">
            <a:avLst/>
          </a:prstGeom>
          <a:solidFill>
            <a:srgbClr val="A855F7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172200" y="-3246120"/>
            <a:ext cx="10058400" cy="10058400"/>
          </a:xfrm>
          <a:prstGeom prst="ellipse">
            <a:avLst/>
          </a:prstGeom>
          <a:solidFill>
            <a:srgbClr val="A855F7">
              <a:alpha val="91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429500" y="-1988820"/>
            <a:ext cx="7543800" cy="7543800"/>
          </a:xfrm>
          <a:prstGeom prst="ellipse">
            <a:avLst/>
          </a:prstGeom>
          <a:solidFill>
            <a:srgbClr val="A855F7">
              <a:alpha val="8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686800" y="-731520"/>
            <a:ext cx="5029200" cy="5029200"/>
          </a:xfrm>
          <a:prstGeom prst="ellipse">
            <a:avLst/>
          </a:prstGeom>
          <a:solidFill>
            <a:srgbClr val="A855F7">
              <a:alpha val="8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-4114800" y="1828800"/>
            <a:ext cx="9144000" cy="9144000"/>
          </a:xfrm>
          <a:prstGeom prst="ellipse">
            <a:avLst/>
          </a:prstGeom>
          <a:solidFill>
            <a:srgbClr val="22D3EE">
              <a:alpha val="97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-3200400" y="2743200"/>
            <a:ext cx="7315200" cy="7315200"/>
          </a:xfrm>
          <a:prstGeom prst="ellipse">
            <a:avLst/>
          </a:prstGeom>
          <a:solidFill>
            <a:srgbClr val="22D3EE">
              <a:alpha val="93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22D3EE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22D3EE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58200" y="2971800"/>
            <a:ext cx="6858000" cy="6858000"/>
          </a:xfrm>
          <a:prstGeom prst="ellipse">
            <a:avLst/>
          </a:prstGeom>
          <a:solidFill>
            <a:srgbClr val="818CF8">
              <a:alpha val="97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818CF8">
              <a:alpha val="93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829800" y="4343400"/>
            <a:ext cx="4114800" cy="4114800"/>
          </a:xfrm>
          <a:prstGeom prst="ellipse">
            <a:avLst/>
          </a:prstGeom>
          <a:solidFill>
            <a:srgbClr val="818CF8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15600" y="5029200"/>
            <a:ext cx="2743200" cy="2743200"/>
          </a:xfrm>
          <a:prstGeom prst="ellipse">
            <a:avLst/>
          </a:prstGeom>
          <a:solidFill>
            <a:srgbClr val="818CF8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FFFFFF">
              <a:alpha val="97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FFFFFF">
              <a:alpha val="97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FFFFFF">
              <a:alpha val="97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FFFFFF">
              <a:alpha val="97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FFFFFF">
              <a:alpha val="97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FFFFFF">
              <a:alpha val="97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FFFFFF">
              <a:alpha val="97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FFFFFF">
              <a:alpha val="97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FFFFFF">
              <a:alpha val="97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FFFFFF">
              <a:alpha val="97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FFFFFF">
              <a:alpha val="97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FFFFFF">
              <a:alpha val="97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FFFFFF">
              <a:alpha val="97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FFFFFF">
              <a:alpha val="97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0"/>
            <a:ext cx="12192000" cy="5486"/>
          </a:xfrm>
          <a:prstGeom prst="rect">
            <a:avLst/>
          </a:prstGeom>
          <a:solidFill>
            <a:srgbClr val="FFFFFF">
              <a:alpha val="97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777240"/>
            <a:ext cx="12192000" cy="5486"/>
          </a:xfrm>
          <a:prstGeom prst="rect">
            <a:avLst/>
          </a:prstGeom>
          <a:solidFill>
            <a:srgbClr val="FFFFFF">
              <a:alpha val="97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1554480"/>
            <a:ext cx="12192000" cy="5486"/>
          </a:xfrm>
          <a:prstGeom prst="rect">
            <a:avLst/>
          </a:prstGeom>
          <a:solidFill>
            <a:srgbClr val="FFFFFF">
              <a:alpha val="97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2331720"/>
            <a:ext cx="12192000" cy="5486"/>
          </a:xfrm>
          <a:prstGeom prst="rect">
            <a:avLst/>
          </a:prstGeom>
          <a:solidFill>
            <a:srgbClr val="FFFFFF">
              <a:alpha val="97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3108960"/>
            <a:ext cx="12192000" cy="5486"/>
          </a:xfrm>
          <a:prstGeom prst="rect">
            <a:avLst/>
          </a:prstGeom>
          <a:solidFill>
            <a:srgbClr val="FFFFFF">
              <a:alpha val="97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3886200"/>
            <a:ext cx="12192000" cy="5486"/>
          </a:xfrm>
          <a:prstGeom prst="rect">
            <a:avLst/>
          </a:prstGeom>
          <a:solidFill>
            <a:srgbClr val="FFFFFF">
              <a:alpha val="97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4663440"/>
            <a:ext cx="12192000" cy="5486"/>
          </a:xfrm>
          <a:prstGeom prst="rect">
            <a:avLst/>
          </a:prstGeom>
          <a:solidFill>
            <a:srgbClr val="FFFFFF">
              <a:alpha val="97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5440680"/>
            <a:ext cx="12192000" cy="5486"/>
          </a:xfrm>
          <a:prstGeom prst="rect">
            <a:avLst/>
          </a:prstGeom>
          <a:solidFill>
            <a:srgbClr val="FFFFFF">
              <a:alpha val="97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6217920"/>
            <a:ext cx="12192000" cy="5486"/>
          </a:xfrm>
          <a:prstGeom prst="rect">
            <a:avLst/>
          </a:prstGeom>
          <a:solidFill>
            <a:srgbClr val="FFFFFF">
              <a:alpha val="97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" y="731520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22D3EE">
              <a:alpha val="8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7315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WORKSPACE ADMIN EDITION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1188720"/>
            <a:ext cx="11887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ABCD</a:t>
            </a:r>
            <a:endParaRPr lang="en-US" sz="7200" dirty="0"/>
          </a:p>
        </p:txBody>
      </p:sp>
      <p:sp>
        <p:nvSpPr>
          <p:cNvPr id="41" name="Text 39"/>
          <p:cNvSpPr/>
          <p:nvPr/>
        </p:nvSpPr>
        <p:spPr>
          <a:xfrm>
            <a:off x="457200" y="2331720"/>
            <a:ext cx="1188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 Hub</a:t>
            </a:r>
            <a:endParaRPr lang="en-US" sz="5800" dirty="0"/>
          </a:p>
        </p:txBody>
      </p:sp>
      <p:sp>
        <p:nvSpPr>
          <p:cNvPr id="42" name="Shape 40"/>
          <p:cNvSpPr/>
          <p:nvPr/>
        </p:nvSpPr>
        <p:spPr>
          <a:xfrm>
            <a:off x="457200" y="3474720"/>
            <a:ext cx="5943600" cy="228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36118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Smarter Exams. Intelligent Results. Zero Compromise.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57200" y="4572000"/>
            <a:ext cx="2743200" cy="1188720"/>
          </a:xfrm>
          <a:prstGeom prst="roundRect">
            <a:avLst>
              <a:gd name="adj" fmla="val 10769"/>
            </a:avLst>
          </a:prstGeom>
          <a:solidFill>
            <a:srgbClr val="0D1528">
              <a:alpha val="2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663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 Builder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57200" y="5120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Lifecycle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383280" y="4572000"/>
            <a:ext cx="2743200" cy="1188720"/>
          </a:xfrm>
          <a:prstGeom prst="roundRect">
            <a:avLst>
              <a:gd name="adj" fmla="val 10769"/>
            </a:avLst>
          </a:prstGeom>
          <a:solidFill>
            <a:srgbClr val="0D1528">
              <a:alpha val="2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83280" y="4663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383280" y="5120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MCQ Generation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09360" y="4572000"/>
            <a:ext cx="2743200" cy="1188720"/>
          </a:xfrm>
          <a:prstGeom prst="roundRect">
            <a:avLst>
              <a:gd name="adj" fmla="val 10769"/>
            </a:avLst>
          </a:prstGeom>
          <a:solidFill>
            <a:srgbClr val="0D1528">
              <a:alpha val="2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4663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309360" y="5120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 Analytics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235440" y="4572000"/>
            <a:ext cx="2743200" cy="1188720"/>
          </a:xfrm>
          <a:prstGeom prst="roundRect">
            <a:avLst>
              <a:gd name="adj" fmla="val 10769"/>
            </a:avLst>
          </a:prstGeom>
          <a:solidFill>
            <a:srgbClr val="0D1528">
              <a:alpha val="2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35440" y="4663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Anti-Cheat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9235440" y="5120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 &amp; Tab Guard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5720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March 2026  ·  Confidential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7772400" y="-1371600"/>
            <a:ext cx="9144000" cy="9144000"/>
          </a:xfrm>
          <a:prstGeom prst="ellipse">
            <a:avLst/>
          </a:prstGeom>
          <a:solidFill>
            <a:srgbClr val="A855F7">
              <a:alpha val="9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-457200"/>
            <a:ext cx="7315200" cy="7315200"/>
          </a:xfrm>
          <a:prstGeom prst="ellipse">
            <a:avLst/>
          </a:prstGeom>
          <a:solidFill>
            <a:srgbClr val="A855F7">
              <a:alpha val="9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01200" y="457200"/>
            <a:ext cx="5486400" cy="5486400"/>
          </a:xfrm>
          <a:prstGeom prst="ellipse">
            <a:avLst/>
          </a:prstGeom>
          <a:solidFill>
            <a:srgbClr val="A855F7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1371600"/>
            <a:ext cx="3657600" cy="3657600"/>
          </a:xfrm>
          <a:prstGeom prst="ellipse">
            <a:avLst/>
          </a:prstGeom>
          <a:solidFill>
            <a:srgbClr val="A855F7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274320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743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PLATFORM OVERVIEW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6858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Platform, Every Role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11480" y="138988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Built for institute admins who need full control — from question to result.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965960"/>
            <a:ext cx="3749040" cy="4114800"/>
          </a:xfrm>
          <a:prstGeom prst="roundRect">
            <a:avLst>
              <a:gd name="adj" fmla="val 3415"/>
            </a:avLst>
          </a:prstGeom>
          <a:solidFill>
            <a:srgbClr val="0D1528">
              <a:alpha val="3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1540" y="1531620"/>
            <a:ext cx="2514600" cy="2514600"/>
          </a:xfrm>
          <a:prstGeom prst="ellipse">
            <a:avLst/>
          </a:prstGeom>
          <a:solidFill>
            <a:srgbClr val="818CF8">
              <a:alpha val="93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1783080"/>
            <a:ext cx="2011680" cy="2011680"/>
          </a:xfrm>
          <a:prstGeom prst="ellipse">
            <a:avLst/>
          </a:prstGeom>
          <a:solidFill>
            <a:srgbClr val="818CF8">
              <a:alpha val="87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94460" y="2034540"/>
            <a:ext cx="1508760" cy="1508760"/>
          </a:xfrm>
          <a:prstGeom prst="ellipse">
            <a:avLst/>
          </a:prstGeom>
          <a:solidFill>
            <a:srgbClr val="818CF8">
              <a:alpha val="8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45920" y="2286000"/>
            <a:ext cx="1005840" cy="1005840"/>
          </a:xfrm>
          <a:prstGeom prst="ellipse">
            <a:avLst/>
          </a:prstGeom>
          <a:solidFill>
            <a:srgbClr val="818CF8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1488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🏛️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731520" y="3108960"/>
            <a:ext cx="3017520" cy="228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2461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" y="384048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Workspace owner. Full control over teachers, exams, students &amp; analytics.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43400" y="1965960"/>
            <a:ext cx="3749040" cy="4114800"/>
          </a:xfrm>
          <a:prstGeom prst="roundRect">
            <a:avLst>
              <a:gd name="adj" fmla="val 3415"/>
            </a:avLst>
          </a:prstGeom>
          <a:solidFill>
            <a:srgbClr val="0D1528">
              <a:alpha val="3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9180" y="1531620"/>
            <a:ext cx="2514600" cy="2514600"/>
          </a:xfrm>
          <a:prstGeom prst="ellipse">
            <a:avLst/>
          </a:prstGeom>
          <a:solidFill>
            <a:srgbClr val="34D399">
              <a:alpha val="93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120640" y="1783080"/>
            <a:ext cx="2011680" cy="2011680"/>
          </a:xfrm>
          <a:prstGeom prst="ellipse">
            <a:avLst/>
          </a:prstGeom>
          <a:solidFill>
            <a:srgbClr val="34D399">
              <a:alpha val="87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372100" y="2034540"/>
            <a:ext cx="1508760" cy="1508760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623560" y="2286000"/>
            <a:ext cx="1005840" cy="1005840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343400" y="21488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👩‍🏫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4709160" y="3108960"/>
            <a:ext cx="3017520" cy="228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4343400" y="32461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26280" y="384048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Creates topics, questions, drafts and publishes exams. AI-assisted MCQ generation.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321040" y="1965960"/>
            <a:ext cx="3749040" cy="4114800"/>
          </a:xfrm>
          <a:prstGeom prst="roundRect">
            <a:avLst>
              <a:gd name="adj" fmla="val 3415"/>
            </a:avLst>
          </a:prstGeom>
          <a:solidFill>
            <a:srgbClr val="0D1528">
              <a:alpha val="3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46820" y="1531620"/>
            <a:ext cx="2514600" cy="2514600"/>
          </a:xfrm>
          <a:prstGeom prst="ellipse">
            <a:avLst/>
          </a:prstGeom>
          <a:solidFill>
            <a:srgbClr val="FBBF24">
              <a:alpha val="93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098280" y="1783080"/>
            <a:ext cx="2011680" cy="2011680"/>
          </a:xfrm>
          <a:prstGeom prst="ellipse">
            <a:avLst/>
          </a:prstGeom>
          <a:solidFill>
            <a:srgbClr val="FBBF24">
              <a:alpha val="87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9349740" y="2034540"/>
            <a:ext cx="1508760" cy="1508760"/>
          </a:xfrm>
          <a:prstGeom prst="ellipse">
            <a:avLst/>
          </a:prstGeom>
          <a:solidFill>
            <a:srgbClr val="FBBF24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601200" y="2286000"/>
            <a:ext cx="1005840" cy="1005840"/>
          </a:xfrm>
          <a:prstGeom prst="ellipse">
            <a:avLst/>
          </a:prstGeom>
          <a:solidFill>
            <a:srgbClr val="FBBF24">
              <a:alpha val="8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321040" y="21488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35" name="Shape 33"/>
          <p:cNvSpPr/>
          <p:nvPr/>
        </p:nvSpPr>
        <p:spPr>
          <a:xfrm>
            <a:off x="8686800" y="3108960"/>
            <a:ext cx="3017520" cy="228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6" name="Text 34"/>
          <p:cNvSpPr/>
          <p:nvPr/>
        </p:nvSpPr>
        <p:spPr>
          <a:xfrm>
            <a:off x="8321040" y="32461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503920" y="384048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Takes exams, views results, gets AI-driven recommendations on next tests.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133088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▶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110728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▶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11480" y="6263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 control powered by Clerk OAuth · Every action is gated by role + workspace ownership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8001000" y="228600"/>
            <a:ext cx="11430000" cy="11430000"/>
          </a:xfrm>
          <a:prstGeom prst="ellipse">
            <a:avLst/>
          </a:prstGeom>
          <a:solidFill>
            <a:srgbClr val="22D3EE">
              <a:alpha val="9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1371600"/>
            <a:ext cx="9144000" cy="9144000"/>
          </a:xfrm>
          <a:prstGeom prst="ellipse">
            <a:avLst/>
          </a:prstGeom>
          <a:solidFill>
            <a:srgbClr val="22D3EE">
              <a:alpha val="9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0" y="2514600"/>
            <a:ext cx="6858000" cy="6858000"/>
          </a:xfrm>
          <a:prstGeom prst="ellipse">
            <a:avLst/>
          </a:prstGeom>
          <a:solidFill>
            <a:srgbClr val="22D3EE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0" y="3657600"/>
            <a:ext cx="4572000" cy="4572000"/>
          </a:xfrm>
          <a:prstGeom prst="ellipse">
            <a:avLst/>
          </a:prstGeom>
          <a:solidFill>
            <a:srgbClr val="22D3EE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274320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22D3EE">
              <a:alpha val="8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743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EXAM MANAGEMENT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6858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 Builder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11480" y="138988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Design, schedule, and control every aspect of your exams — visually and precisely.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3749040" cy="1371600"/>
          </a:xfrm>
          <a:prstGeom prst="roundRect">
            <a:avLst>
              <a:gd name="adj" fmla="val 9333"/>
            </a:avLst>
          </a:prstGeom>
          <a:solidFill>
            <a:srgbClr val="0D1528">
              <a:alpha val="4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2996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  Rich Title &amp; Description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2487168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exam name, description, logo &amp; contact info on every exam.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43400" y="1920240"/>
            <a:ext cx="3749040" cy="1371600"/>
          </a:xfrm>
          <a:prstGeom prst="roundRect">
            <a:avLst>
              <a:gd name="adj" fmla="val 9333"/>
            </a:avLst>
          </a:prstGeom>
          <a:solidFill>
            <a:srgbClr val="0D1528">
              <a:alpha val="4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202996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⏱️  Timed Sessions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26280" y="2487168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exact duration (minutes). Students see a live countdown timer.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321040" y="1920240"/>
            <a:ext cx="3749040" cy="1371600"/>
          </a:xfrm>
          <a:prstGeom prst="roundRect">
            <a:avLst>
              <a:gd name="adj" fmla="val 9333"/>
            </a:avLst>
          </a:prstGeom>
          <a:solidFill>
            <a:srgbClr val="0D1528">
              <a:alpha val="4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202996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📅  Scheduled Windows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503920" y="2487168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a startTime &amp; endTime — exams lock automatically outside windows.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429000"/>
            <a:ext cx="3749040" cy="1371600"/>
          </a:xfrm>
          <a:prstGeom prst="roundRect">
            <a:avLst>
              <a:gd name="adj" fmla="val 9333"/>
            </a:avLst>
          </a:prstGeom>
          <a:solidFill>
            <a:srgbClr val="0D1528">
              <a:alpha val="4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53872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 Password Protection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3995928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 password to restrict access to invited-only sessions.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43400" y="3429000"/>
            <a:ext cx="3749040" cy="1371600"/>
          </a:xfrm>
          <a:prstGeom prst="roundRect">
            <a:avLst>
              <a:gd name="adj" fmla="val 9333"/>
            </a:avLst>
          </a:prstGeom>
          <a:solidFill>
            <a:srgbClr val="0D1528">
              <a:alpha val="4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353872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 Public / Private Toggle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26280" y="3995928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an exam public for all students or restrict to your workspace.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321040" y="3429000"/>
            <a:ext cx="3749040" cy="1371600"/>
          </a:xfrm>
          <a:prstGeom prst="roundRect">
            <a:avLst>
              <a:gd name="adj" fmla="val 9333"/>
            </a:avLst>
          </a:prstGeom>
          <a:solidFill>
            <a:srgbClr val="0D1528">
              <a:alpha val="4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353872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Exam Status Control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503920" y="3995928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Instantly switch between ACTIVE, PAUSED, or INACTIVE.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937760"/>
            <a:ext cx="3749040" cy="1371600"/>
          </a:xfrm>
          <a:prstGeom prst="roundRect">
            <a:avLst>
              <a:gd name="adj" fmla="val 9333"/>
            </a:avLst>
          </a:prstGeom>
          <a:solidFill>
            <a:srgbClr val="0D1528">
              <a:alpha val="4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04748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➕  Marks per Question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" y="5504688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custom marks per question for weighted scoring.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43400" y="4937760"/>
            <a:ext cx="3749040" cy="1371600"/>
          </a:xfrm>
          <a:prstGeom prst="roundRect">
            <a:avLst>
              <a:gd name="adj" fmla="val 9333"/>
            </a:avLst>
          </a:prstGeom>
          <a:solidFill>
            <a:srgbClr val="0D1528">
              <a:alpha val="4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26280" y="504748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➖  Negative Marking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26280" y="5504688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negative marks with a configurable deduction value.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321040" y="4937760"/>
            <a:ext cx="3749040" cy="1371600"/>
          </a:xfrm>
          <a:prstGeom prst="roundRect">
            <a:avLst>
              <a:gd name="adj" fmla="val 9333"/>
            </a:avLst>
          </a:prstGeom>
          <a:solidFill>
            <a:srgbClr val="0D1528">
              <a:alpha val="4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03920" y="504748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 Question Compiler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503920" y="5504688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questions from your bank by topic — drag, drop, publish.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-2286000" y="2286000"/>
            <a:ext cx="9144000" cy="9144000"/>
          </a:xfrm>
          <a:prstGeom prst="ellipse">
            <a:avLst/>
          </a:prstGeom>
          <a:solidFill>
            <a:srgbClr val="A855F7">
              <a:alpha val="9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200400"/>
            <a:ext cx="7315200" cy="7315200"/>
          </a:xfrm>
          <a:prstGeom prst="ellipse">
            <a:avLst/>
          </a:prstGeom>
          <a:solidFill>
            <a:srgbClr val="A855F7">
              <a:alpha val="9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457200" y="4114800"/>
            <a:ext cx="5486400" cy="5486400"/>
          </a:xfrm>
          <a:prstGeom prst="ellipse">
            <a:avLst/>
          </a:prstGeom>
          <a:solidFill>
            <a:srgbClr val="A855F7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5029200"/>
            <a:ext cx="3657600" cy="3657600"/>
          </a:xfrm>
          <a:prstGeom prst="ellipse">
            <a:avLst/>
          </a:prstGeom>
          <a:solidFill>
            <a:srgbClr val="A855F7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572500" y="-1485900"/>
            <a:ext cx="8001000" cy="8001000"/>
          </a:xfrm>
          <a:prstGeom prst="ellipse">
            <a:avLst/>
          </a:prstGeom>
          <a:solidFill>
            <a:srgbClr val="818CF8">
              <a:alpha val="97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72600" y="-685800"/>
            <a:ext cx="6400800" cy="6400800"/>
          </a:xfrm>
          <a:prstGeom prst="ellipse">
            <a:avLst/>
          </a:prstGeom>
          <a:solidFill>
            <a:srgbClr val="818CF8">
              <a:alpha val="93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172700" y="114300"/>
            <a:ext cx="4800600" cy="4800600"/>
          </a:xfrm>
          <a:prstGeom prst="ellipse">
            <a:avLst/>
          </a:prstGeom>
          <a:solidFill>
            <a:srgbClr val="818CF8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0" y="914400"/>
            <a:ext cx="3200400" cy="3200400"/>
          </a:xfrm>
          <a:prstGeom prst="ellipse">
            <a:avLst/>
          </a:prstGeom>
          <a:solidFill>
            <a:srgbClr val="818CF8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274320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743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QUESTION BANK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6858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Bank + AI Generation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11480" y="138988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Build your MCQ library once, reuse forever. Let Gemini AI do the heavy lifting.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1920240"/>
            <a:ext cx="5394960" cy="4297680"/>
          </a:xfrm>
          <a:prstGeom prst="roundRect">
            <a:avLst>
              <a:gd name="adj" fmla="val 2979"/>
            </a:avLst>
          </a:prstGeom>
          <a:solidFill>
            <a:srgbClr val="0D1528">
              <a:alpha val="3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057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📚  Question Bank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2578608"/>
            <a:ext cx="5029200" cy="2286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871216"/>
            <a:ext cx="137160" cy="13716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28072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MCQ format: text, 4 options, 1 correct answer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3346704"/>
            <a:ext cx="137160" cy="13716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28269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Attach images to questions (image URL support)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3822192"/>
            <a:ext cx="137160" cy="13716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75818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Organise by Topics — workspace-local or global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" y="4297680"/>
            <a:ext cx="137160" cy="13716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2336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 questions as Public (shared) or Private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4360" y="4773168"/>
            <a:ext cx="137160" cy="13716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709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questions by topic when compiling exams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94360" y="5248656"/>
            <a:ext cx="137160" cy="13716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1846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Bulk question import via AI in one click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94360" y="5724144"/>
            <a:ext cx="137160" cy="13716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56601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Workspace question + topic limits enforced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035040" y="1920240"/>
            <a:ext cx="6126480" cy="4297680"/>
          </a:xfrm>
          <a:prstGeom prst="roundRect">
            <a:avLst>
              <a:gd name="adj" fmla="val 2979"/>
            </a:avLst>
          </a:prstGeom>
          <a:solidFill>
            <a:srgbClr val="0D1528">
              <a:alpha val="3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20574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 AI Bulk MCQ Generator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217920" y="2578608"/>
            <a:ext cx="5669280" cy="228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5" name="Shape 33"/>
          <p:cNvSpPr/>
          <p:nvPr/>
        </p:nvSpPr>
        <p:spPr>
          <a:xfrm>
            <a:off x="6172200" y="2834640"/>
            <a:ext cx="502920" cy="420624"/>
          </a:xfrm>
          <a:prstGeom prst="roundRect">
            <a:avLst>
              <a:gd name="adj" fmla="val 13043"/>
            </a:avLst>
          </a:prstGeom>
          <a:solidFill>
            <a:srgbClr val="818CF8">
              <a:alpha val="8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2834640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66560" y="283464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Topic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66560" y="305409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any topic from your question bank.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72200" y="3493008"/>
            <a:ext cx="502920" cy="420624"/>
          </a:xfrm>
          <a:prstGeom prst="roundRect">
            <a:avLst>
              <a:gd name="adj" fmla="val 13043"/>
            </a:avLst>
          </a:prstGeom>
          <a:solidFill>
            <a:srgbClr val="818CF8">
              <a:alpha val="8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3493008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66560" y="349300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Prompt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766560" y="371246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subject matter, difficulty, or specific instructions.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172200" y="4151376"/>
            <a:ext cx="502920" cy="420624"/>
          </a:xfrm>
          <a:prstGeom prst="roundRect">
            <a:avLst>
              <a:gd name="adj" fmla="val 13043"/>
            </a:avLst>
          </a:prstGeom>
          <a:solidFill>
            <a:srgbClr val="818CF8">
              <a:alpha val="8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4151376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766560" y="4151376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Generates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766560" y="437083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Gemini AI creates N fully structured MCQs instantly.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172200" y="4809744"/>
            <a:ext cx="502920" cy="420624"/>
          </a:xfrm>
          <a:prstGeom prst="roundRect">
            <a:avLst>
              <a:gd name="adj" fmla="val 13043"/>
            </a:avLst>
          </a:prstGeom>
          <a:solidFill>
            <a:srgbClr val="818CF8">
              <a:alpha val="8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4809744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766560" y="4809744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&amp; Save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766560" y="50292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Edit, discard, or approve — questions land in your bank.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172200" y="5468112"/>
            <a:ext cx="502920" cy="420624"/>
          </a:xfrm>
          <a:prstGeom prst="roundRect">
            <a:avLst>
              <a:gd name="adj" fmla="val 13043"/>
            </a:avLst>
          </a:prstGeom>
          <a:solidFill>
            <a:srgbClr val="818CF8">
              <a:alpha val="8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72200" y="5468112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766560" y="5468112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 to Exam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766560" y="568756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generated questions and publish the exam.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8343900" y="-1257300"/>
            <a:ext cx="10287000" cy="10287000"/>
          </a:xfrm>
          <a:prstGeom prst="ellipse">
            <a:avLst/>
          </a:prstGeom>
          <a:solidFill>
            <a:srgbClr val="F87171">
              <a:alpha val="9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372600" y="-228600"/>
            <a:ext cx="8229600" cy="8229600"/>
          </a:xfrm>
          <a:prstGeom prst="ellipse">
            <a:avLst/>
          </a:prstGeom>
          <a:solidFill>
            <a:srgbClr val="F87171">
              <a:alpha val="9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401300" y="800100"/>
            <a:ext cx="6172200" cy="6172200"/>
          </a:xfrm>
          <a:prstGeom prst="ellipse">
            <a:avLst/>
          </a:prstGeom>
          <a:solidFill>
            <a:srgbClr val="F87171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0" y="1828800"/>
            <a:ext cx="4114800" cy="4114800"/>
          </a:xfrm>
          <a:prstGeom prst="ellipse">
            <a:avLst/>
          </a:prstGeom>
          <a:solidFill>
            <a:srgbClr val="F87171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274320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F87171">
              <a:alpha val="80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743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EXAM SECURITY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6858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 Controls &amp; Integrity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11480" y="138988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Every safeguard you need to run fair, tamper-resistant online exams.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874520"/>
            <a:ext cx="5806440" cy="1371600"/>
          </a:xfrm>
          <a:prstGeom prst="roundRect">
            <a:avLst>
              <a:gd name="adj" fmla="val 9333"/>
            </a:avLst>
          </a:prstGeom>
          <a:solidFill>
            <a:srgbClr val="0D1528">
              <a:alpha val="40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201168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87171">
              <a:alpha val="80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984248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198424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Password-Gated Access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2386584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Exams can require a secret password before students can start — ideal for private mock tests and paid sessions.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46520" y="1874520"/>
            <a:ext cx="5806440" cy="1371600"/>
          </a:xfrm>
          <a:prstGeom prst="roundRect">
            <a:avLst>
              <a:gd name="adj" fmla="val 9333"/>
            </a:avLst>
          </a:prstGeom>
          <a:solidFill>
            <a:srgbClr val="0D1528">
              <a:alpha val="4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11112" y="201168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1984248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406640" y="198424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Time-Windowed Exams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06640" y="2386584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startTime and endTime. The platform auto-locks the exam outside the scheduled window — zero manual effort.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383280"/>
            <a:ext cx="5806440" cy="1371600"/>
          </a:xfrm>
          <a:prstGeom prst="roundRect">
            <a:avLst>
              <a:gd name="adj" fmla="val 9333"/>
            </a:avLst>
          </a:prstGeom>
          <a:solidFill>
            <a:srgbClr val="0D1528">
              <a:alpha val="4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35204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818CF8">
              <a:alpha val="8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493008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⏸️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325880" y="349300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Pause / Deactivate on Fly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25880" y="3895344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any exam to PAUSED or INACTIVE in one click. Students in-session are gracefully halted.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46520" y="3383280"/>
            <a:ext cx="5806440" cy="1371600"/>
          </a:xfrm>
          <a:prstGeom prst="roundRect">
            <a:avLst>
              <a:gd name="adj" fmla="val 9333"/>
            </a:avLst>
          </a:prstGeom>
          <a:solidFill>
            <a:srgbClr val="0D1528">
              <a:alpha val="4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11112" y="35204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11112" y="3493008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🚩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406640" y="349300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Flagged Question Tracking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06640" y="3895344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can flag uncertain questions during the exam. Drafts preserve flags across reconnects.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4892040"/>
            <a:ext cx="5806440" cy="1371600"/>
          </a:xfrm>
          <a:prstGeom prst="roundRect">
            <a:avLst>
              <a:gd name="adj" fmla="val 9333"/>
            </a:avLst>
          </a:prstGeom>
          <a:solidFill>
            <a:srgbClr val="0D1528">
              <a:alpha val="4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" y="502920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22D3EE">
              <a:alpha val="8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5001768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325880" y="500176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Auto-Save Exam Draft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325880" y="5404104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+ time remaining + current question index saved continuously. Reconnect without losing progress.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46520" y="4892040"/>
            <a:ext cx="5806440" cy="1371600"/>
          </a:xfrm>
          <a:prstGeom prst="roundRect">
            <a:avLst>
              <a:gd name="adj" fmla="val 9333"/>
            </a:avLst>
          </a:prstGeom>
          <a:solidFill>
            <a:srgbClr val="0D1528">
              <a:alpha val="4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11112" y="502920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34D399">
              <a:alpha val="8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11112" y="5001768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📵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406640" y="500176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Tab-Switch Detection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406640" y="5404104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time a student switches browser tabs, it's counted and stored — giving admins visibility of suspicious behaviour.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-1828800" y="-457200"/>
            <a:ext cx="9144000" cy="9144000"/>
          </a:xfrm>
          <a:prstGeom prst="ellipse">
            <a:avLst/>
          </a:prstGeom>
          <a:solidFill>
            <a:srgbClr val="34D399">
              <a:alpha val="9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57200"/>
            <a:ext cx="7315200" cy="7315200"/>
          </a:xfrm>
          <a:prstGeom prst="ellipse">
            <a:avLst/>
          </a:prstGeom>
          <a:solidFill>
            <a:srgbClr val="34D399">
              <a:alpha val="9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371600"/>
            <a:ext cx="5486400" cy="5486400"/>
          </a:xfrm>
          <a:prstGeom prst="ellipse">
            <a:avLst/>
          </a:prstGeom>
          <a:solidFill>
            <a:srgbClr val="34D399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286000"/>
            <a:ext cx="3657600" cy="3657600"/>
          </a:xfrm>
          <a:prstGeom prst="ellipse">
            <a:avLst/>
          </a:prstGeom>
          <a:solidFill>
            <a:srgbClr val="34D399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274320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34D399">
              <a:alpha val="8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743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EXAM EXPERIENCE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6858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Exam Experience (Student View)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11480" y="138988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 distraction-free, intuitive test interface that feels premium on any device.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11475720" cy="4343400"/>
          </a:xfrm>
          <a:prstGeom prst="roundRect">
            <a:avLst>
              <a:gd name="adj" fmla="val 2947"/>
            </a:avLst>
          </a:prstGeom>
          <a:solidFill>
            <a:srgbClr val="0D1528">
              <a:alpha val="4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920240"/>
            <a:ext cx="11475720" cy="457200"/>
          </a:xfrm>
          <a:prstGeom prst="roundRect">
            <a:avLst/>
          </a:prstGeom>
          <a:solidFill>
            <a:srgbClr val="060B18">
              <a:alpha val="1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2029968"/>
            <a:ext cx="164592" cy="164592"/>
          </a:xfrm>
          <a:prstGeom prst="ellipse">
            <a:avLst/>
          </a:prstGeom>
          <a:solidFill>
            <a:srgbClr val="E14D4D"/>
          </a:solidFill>
          <a:ln/>
        </p:spPr>
      </p:sp>
      <p:sp>
        <p:nvSpPr>
          <p:cNvPr id="14" name="Shape 12"/>
          <p:cNvSpPr/>
          <p:nvPr/>
        </p:nvSpPr>
        <p:spPr>
          <a:xfrm>
            <a:off x="886968" y="2029968"/>
            <a:ext cx="164592" cy="164592"/>
          </a:xfrm>
          <a:prstGeom prst="ellipse">
            <a:avLst/>
          </a:prstGeom>
          <a:solidFill>
            <a:srgbClr val="F5A523"/>
          </a:solidFill>
          <a:ln/>
        </p:spPr>
      </p:sp>
      <p:sp>
        <p:nvSpPr>
          <p:cNvPr id="15" name="Shape 13"/>
          <p:cNvSpPr/>
          <p:nvPr/>
        </p:nvSpPr>
        <p:spPr>
          <a:xfrm>
            <a:off x="1179576" y="2029968"/>
            <a:ext cx="164592" cy="164592"/>
          </a:xfrm>
          <a:prstGeom prst="ellipse">
            <a:avLst/>
          </a:prstGeom>
          <a:solidFill>
            <a:srgbClr val="2BCC71"/>
          </a:solidFill>
          <a:ln/>
        </p:spPr>
      </p:sp>
      <p:sp>
        <p:nvSpPr>
          <p:cNvPr id="16" name="Shape 14"/>
          <p:cNvSpPr/>
          <p:nvPr/>
        </p:nvSpPr>
        <p:spPr>
          <a:xfrm>
            <a:off x="1645920" y="2011680"/>
            <a:ext cx="5486400" cy="201168"/>
          </a:xfrm>
          <a:prstGeom prst="roundRect">
            <a:avLst>
              <a:gd name="adj" fmla="val 18182"/>
            </a:avLst>
          </a:prstGeom>
          <a:solidFill>
            <a:srgbClr val="1E2D45"/>
          </a:solidFill>
          <a:ln/>
        </p:spPr>
      </p:sp>
      <p:sp>
        <p:nvSpPr>
          <p:cNvPr id="17" name="Text 15"/>
          <p:cNvSpPr/>
          <p:nvPr/>
        </p:nvSpPr>
        <p:spPr>
          <a:xfrm>
            <a:off x="1691640" y="201168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abcdexamhub.app/exam/[id]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11338560" cy="36576"/>
          </a:xfrm>
          <a:prstGeom prst="rect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468880"/>
            <a:ext cx="685800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53288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38:21 remaining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0" y="25328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 14 / 40  ·  🚩 Flag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294436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Q14.  The acceleration due to gravity at the surface of the Earth is approximately: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3547872"/>
            <a:ext cx="10881360" cy="365760"/>
          </a:xfrm>
          <a:prstGeom prst="roundRect">
            <a:avLst>
              <a:gd name="adj" fmla="val 15000"/>
            </a:avLst>
          </a:prstGeom>
          <a:solidFill>
            <a:srgbClr val="111827">
              <a:alpha val="20000"/>
            </a:srgbClr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54787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  8.2 m/s²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3977640"/>
            <a:ext cx="10881360" cy="365760"/>
          </a:xfrm>
          <a:prstGeom prst="roundRect">
            <a:avLst>
              <a:gd name="adj" fmla="val 15000"/>
            </a:avLst>
          </a:prstGeom>
          <a:solidFill>
            <a:srgbClr val="34D399">
              <a:alpha val="8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977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  9.8 m/s²  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407408"/>
            <a:ext cx="10881360" cy="365760"/>
          </a:xfrm>
          <a:prstGeom prst="roundRect">
            <a:avLst>
              <a:gd name="adj" fmla="val 15000"/>
            </a:avLst>
          </a:prstGeom>
          <a:solidFill>
            <a:srgbClr val="111827">
              <a:alpha val="20000"/>
            </a:srgbClr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4074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C.  10.5 m/s²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4837176"/>
            <a:ext cx="10881360" cy="365760"/>
          </a:xfrm>
          <a:prstGeom prst="roundRect">
            <a:avLst>
              <a:gd name="adj" fmla="val 15000"/>
            </a:avLst>
          </a:prstGeom>
          <a:solidFill>
            <a:srgbClr val="111827">
              <a:alpha val="20000"/>
            </a:srgbClr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837176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D.  11.0 m/s²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" y="534924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53492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← Prev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921240" y="534924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818CF8"/>
          </a:solidFill>
          <a:ln/>
        </p:spPr>
      </p:sp>
      <p:sp>
        <p:nvSpPr>
          <p:cNvPr id="34" name="Text 32"/>
          <p:cNvSpPr/>
          <p:nvPr/>
        </p:nvSpPr>
        <p:spPr>
          <a:xfrm>
            <a:off x="9921240" y="53492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→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6629400" y="1143000"/>
            <a:ext cx="11430000" cy="11430000"/>
          </a:xfrm>
          <a:prstGeom prst="ellipse">
            <a:avLst/>
          </a:prstGeom>
          <a:solidFill>
            <a:srgbClr val="FBBF24">
              <a:alpha val="9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2286000"/>
            <a:ext cx="9144000" cy="9144000"/>
          </a:xfrm>
          <a:prstGeom prst="ellipse">
            <a:avLst/>
          </a:prstGeom>
          <a:solidFill>
            <a:srgbClr val="FBBF24">
              <a:alpha val="9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15400" y="3429000"/>
            <a:ext cx="6858000" cy="6858000"/>
          </a:xfrm>
          <a:prstGeom prst="ellipse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0" y="4572000"/>
            <a:ext cx="4572000" cy="4572000"/>
          </a:xfrm>
          <a:prstGeom prst="ellipse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274320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743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RESULT SYSTEM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6858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 Engine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11480" y="138988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Three flexible publish modes. Zero ambiguity. Full transparency for students.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3749040" cy="2560320"/>
          </a:xfrm>
          <a:prstGeom prst="roundRect">
            <a:avLst>
              <a:gd name="adj" fmla="val 5000"/>
            </a:avLst>
          </a:prstGeom>
          <a:solidFill>
            <a:srgbClr val="0D1528">
              <a:alpha val="3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600200"/>
            <a:ext cx="2286000" cy="2286000"/>
          </a:xfrm>
          <a:prstGeom prst="ellipse">
            <a:avLst/>
          </a:prstGeom>
          <a:solidFill>
            <a:srgbClr val="34D399">
              <a:alpha val="9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828800"/>
            <a:ext cx="1828800" cy="1828800"/>
          </a:xfrm>
          <a:prstGeom prst="ellipse">
            <a:avLst/>
          </a:prstGeom>
          <a:solidFill>
            <a:srgbClr val="34D399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2057400"/>
            <a:ext cx="1371600" cy="1371600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2286000"/>
            <a:ext cx="914400" cy="914400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19202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40080" y="196596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34D399">
              <a:alpha val="8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96596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2395728"/>
            <a:ext cx="340156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are revealed the moment the student submits. Ideal for practice tests and mock exams where immediate feedback boosts learning.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1828800"/>
            <a:ext cx="3749040" cy="2560320"/>
          </a:xfrm>
          <a:prstGeom prst="roundRect">
            <a:avLst>
              <a:gd name="adj" fmla="val 5000"/>
            </a:avLst>
          </a:prstGeom>
          <a:solidFill>
            <a:srgbClr val="0D1528">
              <a:alpha val="3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06240" y="1600200"/>
            <a:ext cx="2286000" cy="2286000"/>
          </a:xfrm>
          <a:prstGeom prst="ellipse">
            <a:avLst/>
          </a:prstGeom>
          <a:solidFill>
            <a:srgbClr val="FBBF24">
              <a:alpha val="9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434840" y="1828800"/>
            <a:ext cx="1828800" cy="1828800"/>
          </a:xfrm>
          <a:prstGeom prst="ellipse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663440" y="2057400"/>
            <a:ext cx="1371600" cy="1371600"/>
          </a:xfrm>
          <a:prstGeom prst="ellipse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892040" y="2286000"/>
            <a:ext cx="914400" cy="914400"/>
          </a:xfrm>
          <a:prstGeom prst="ellipse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343400" y="19202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🏁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4617720" y="196596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196596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 END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26280" y="2395728"/>
            <a:ext cx="340156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results unlock together when the exam window closes. Perfect for competitive tests where fairness matters — no early reveals.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21040" y="1828800"/>
            <a:ext cx="3749040" cy="2560320"/>
          </a:xfrm>
          <a:prstGeom prst="roundRect">
            <a:avLst>
              <a:gd name="adj" fmla="val 5000"/>
            </a:avLst>
          </a:prstGeom>
          <a:solidFill>
            <a:srgbClr val="0D1528">
              <a:alpha val="3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83880" y="1600200"/>
            <a:ext cx="2286000" cy="2286000"/>
          </a:xfrm>
          <a:prstGeom prst="ellipse">
            <a:avLst/>
          </a:prstGeom>
          <a:solidFill>
            <a:srgbClr val="818CF8">
              <a:alpha val="9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412480" y="1828800"/>
            <a:ext cx="1828800" cy="1828800"/>
          </a:xfrm>
          <a:prstGeom prst="ellipse">
            <a:avLst/>
          </a:prstGeom>
          <a:solidFill>
            <a:srgbClr val="818CF8">
              <a:alpha val="9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641080" y="2057400"/>
            <a:ext cx="1371600" cy="1371600"/>
          </a:xfrm>
          <a:prstGeom prst="ellipse">
            <a:avLst/>
          </a:prstGeom>
          <a:solidFill>
            <a:srgbClr val="818CF8">
              <a:alpha val="8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869680" y="2286000"/>
            <a:ext cx="914400" cy="914400"/>
          </a:xfrm>
          <a:prstGeom prst="ellipse">
            <a:avLst/>
          </a:prstGeom>
          <a:solidFill>
            <a:srgbClr val="818CF8">
              <a:alpha val="8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321040" y="19202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📆</a:t>
            </a:r>
            <a:endParaRPr lang="en-US" sz="2800" dirty="0"/>
          </a:p>
        </p:txBody>
      </p:sp>
      <p:sp>
        <p:nvSpPr>
          <p:cNvPr id="35" name="Shape 33"/>
          <p:cNvSpPr/>
          <p:nvPr/>
        </p:nvSpPr>
        <p:spPr>
          <a:xfrm>
            <a:off x="8595360" y="196596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818CF8">
              <a:alpha val="8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95360" y="196596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DATE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503920" y="2395728"/>
            <a:ext cx="340156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sets a specific date &amp; time for results to go live. Great for board exams, semester tests, or exams with manual review.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1480" y="45720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Every Result Includes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411480" y="5029200"/>
            <a:ext cx="11384280" cy="228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0" name="Shape 38"/>
          <p:cNvSpPr/>
          <p:nvPr/>
        </p:nvSpPr>
        <p:spPr>
          <a:xfrm>
            <a:off x="411480" y="5166360"/>
            <a:ext cx="3749040" cy="438912"/>
          </a:xfrm>
          <a:prstGeom prst="roundRect">
            <a:avLst>
              <a:gd name="adj" fmla="val 29167"/>
            </a:avLst>
          </a:prstGeom>
          <a:solidFill>
            <a:srgbClr val="0D1528">
              <a:alpha val="5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516636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Total Score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389120" y="5166360"/>
            <a:ext cx="3749040" cy="438912"/>
          </a:xfrm>
          <a:prstGeom prst="roundRect">
            <a:avLst>
              <a:gd name="adj" fmla="val 29167"/>
            </a:avLst>
          </a:prstGeom>
          <a:solidFill>
            <a:srgbClr val="0D1528">
              <a:alpha val="5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516636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Pass / Fail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366760" y="5166360"/>
            <a:ext cx="3749040" cy="438912"/>
          </a:xfrm>
          <a:prstGeom prst="roundRect">
            <a:avLst>
              <a:gd name="adj" fmla="val 29167"/>
            </a:avLst>
          </a:prstGeom>
          <a:solidFill>
            <a:srgbClr val="0D1528">
              <a:alpha val="5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49640" y="516636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Time Taken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11480" y="5715000"/>
            <a:ext cx="3749040" cy="438912"/>
          </a:xfrm>
          <a:prstGeom prst="roundRect">
            <a:avLst>
              <a:gd name="adj" fmla="val 29167"/>
            </a:avLst>
          </a:prstGeom>
          <a:solidFill>
            <a:srgbClr val="0D1528">
              <a:alpha val="5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57150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Per-question Answers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389120" y="5715000"/>
            <a:ext cx="3749040" cy="438912"/>
          </a:xfrm>
          <a:prstGeom prst="roundRect">
            <a:avLst>
              <a:gd name="adj" fmla="val 29167"/>
            </a:avLst>
          </a:prstGeom>
          <a:solidFill>
            <a:srgbClr val="0D1528">
              <a:alpha val="5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0" y="57150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Correct Answers Log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366760" y="5715000"/>
            <a:ext cx="3749040" cy="438912"/>
          </a:xfrm>
          <a:prstGeom prst="roundRect">
            <a:avLst>
              <a:gd name="adj" fmla="val 29167"/>
            </a:avLst>
          </a:prstGeom>
          <a:solidFill>
            <a:srgbClr val="0D1528">
              <a:alpha val="5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49640" y="57150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Detailed Answer Log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-1485900" y="-1028700"/>
            <a:ext cx="8001000" cy="8001000"/>
          </a:xfrm>
          <a:prstGeom prst="ellipse">
            <a:avLst/>
          </a:prstGeom>
          <a:solidFill>
            <a:srgbClr val="818CF8">
              <a:alpha val="9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685800" y="-228600"/>
            <a:ext cx="6400800" cy="6400800"/>
          </a:xfrm>
          <a:prstGeom prst="ellipse">
            <a:avLst/>
          </a:prstGeom>
          <a:solidFill>
            <a:srgbClr val="818CF8">
              <a:alpha val="9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" y="571500"/>
            <a:ext cx="4800600" cy="4800600"/>
          </a:xfrm>
          <a:prstGeom prst="ellipse">
            <a:avLst/>
          </a:prstGeom>
          <a:solidFill>
            <a:srgbClr val="818CF8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371600"/>
            <a:ext cx="3200400" cy="3200400"/>
          </a:xfrm>
          <a:prstGeom prst="ellipse">
            <a:avLst/>
          </a:prstGeom>
          <a:solidFill>
            <a:srgbClr val="818CF8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274320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818CF8">
              <a:alpha val="8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743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RESULT DEEP DIVE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6858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Result Analysis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11480" y="138988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Students and teachers see exactly what happened on every question.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4846320" cy="4343400"/>
          </a:xfrm>
          <a:prstGeom prst="roundRect">
            <a:avLst>
              <a:gd name="adj" fmla="val 2947"/>
            </a:avLst>
          </a:prstGeom>
          <a:solidFill>
            <a:srgbClr val="0D1528">
              <a:alpha val="3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9202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Your Result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4480560" cy="228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74320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 / 40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29900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Percentage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743200" y="29900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85.0 %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4360" y="341985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743200" y="341985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PASS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4360" y="384962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Taken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43200" y="384962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 min 18 sec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94360" y="42793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743200" y="42793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 questions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94360" y="4709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Wrong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743200" y="4709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questions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94360" y="51389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Skipped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743200" y="51389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questions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94360" y="556869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 Switches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743200" y="556869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detected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40680" y="1828800"/>
            <a:ext cx="6766560" cy="4343400"/>
          </a:xfrm>
          <a:prstGeom prst="roundRect">
            <a:avLst>
              <a:gd name="adj" fmla="val 2947"/>
            </a:avLst>
          </a:prstGeom>
          <a:solidFill>
            <a:srgbClr val="0D1528">
              <a:alpha val="3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23560" y="1920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Per-Question Log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623560" y="2423160"/>
            <a:ext cx="6309360" cy="228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0" y="248716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Q#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72200" y="24871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Answer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955280" y="24871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 Answer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058400" y="248716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623560" y="2834640"/>
            <a:ext cx="6263640" cy="2286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38" name="Shape 36"/>
          <p:cNvSpPr/>
          <p:nvPr/>
        </p:nvSpPr>
        <p:spPr>
          <a:xfrm>
            <a:off x="5440680" y="2907792"/>
            <a:ext cx="6766560" cy="420624"/>
          </a:xfrm>
          <a:prstGeom prst="rect">
            <a:avLst/>
          </a:prstGeom>
          <a:solidFill>
            <a:srgbClr val="111827">
              <a:alpha val="5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623560" y="2907792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126480" y="290779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909560" y="2907792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0012680" y="2907792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440680" y="3383280"/>
            <a:ext cx="6766560" cy="420624"/>
          </a:xfrm>
          <a:prstGeom prst="rect">
            <a:avLst/>
          </a:prstGeom>
          <a:solidFill>
            <a:srgbClr val="0D1528">
              <a:alpha val="5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623560" y="3383280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126480" y="3383280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7909560" y="338328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0012680" y="338328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440680" y="3858768"/>
            <a:ext cx="6766560" cy="420624"/>
          </a:xfrm>
          <a:prstGeom prst="rect">
            <a:avLst/>
          </a:prstGeom>
          <a:solidFill>
            <a:srgbClr val="111827">
              <a:alpha val="5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5623560" y="3858768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126480" y="3858768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7909560" y="385876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10012680" y="385876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5440680" y="4334256"/>
            <a:ext cx="6766560" cy="420624"/>
          </a:xfrm>
          <a:prstGeom prst="rect">
            <a:avLst/>
          </a:prstGeom>
          <a:solidFill>
            <a:srgbClr val="0D1528">
              <a:alpha val="5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5623560" y="4334256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6126480" y="4334256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7909560" y="4334256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10012680" y="4334256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⏭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5440680" y="4809744"/>
            <a:ext cx="6766560" cy="420624"/>
          </a:xfrm>
          <a:prstGeom prst="rect">
            <a:avLst/>
          </a:prstGeom>
          <a:solidFill>
            <a:srgbClr val="111827">
              <a:alpha val="5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5623560" y="4809744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6126480" y="4809744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7909560" y="4809744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10012680" y="4809744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5440680" y="5285232"/>
            <a:ext cx="6766560" cy="420624"/>
          </a:xfrm>
          <a:prstGeom prst="rect">
            <a:avLst/>
          </a:prstGeom>
          <a:solidFill>
            <a:srgbClr val="0D1528">
              <a:alpha val="50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5623560" y="5285232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6126480" y="528523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7909560" y="5285232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10012680" y="5285232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411480" y="640080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toggle controls: Show Correct Answers  ·  Show Detailed Log  ·  Per-exam settings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8001000" y="-2057400"/>
            <a:ext cx="11430000" cy="11430000"/>
          </a:xfrm>
          <a:prstGeom prst="ellipse">
            <a:avLst/>
          </a:prstGeom>
          <a:solidFill>
            <a:srgbClr val="A855F7">
              <a:alpha val="9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-914400"/>
            <a:ext cx="9144000" cy="9144000"/>
          </a:xfrm>
          <a:prstGeom prst="ellipse">
            <a:avLst/>
          </a:prstGeom>
          <a:solidFill>
            <a:srgbClr val="A855F7">
              <a:alpha val="9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0" y="228600"/>
            <a:ext cx="6858000" cy="6858000"/>
          </a:xfrm>
          <a:prstGeom prst="ellipse">
            <a:avLst/>
          </a:prstGeom>
          <a:solidFill>
            <a:srgbClr val="A855F7">
              <a:alpha val="8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0" y="1371600"/>
            <a:ext cx="4572000" cy="4572000"/>
          </a:xfrm>
          <a:prstGeom prst="ellipse">
            <a:avLst/>
          </a:prstGeom>
          <a:solidFill>
            <a:srgbClr val="A855F7">
              <a:alpha val="8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-1600200" y="3886200"/>
            <a:ext cx="6858000" cy="6858000"/>
          </a:xfrm>
          <a:prstGeom prst="ellipse">
            <a:avLst/>
          </a:prstGeom>
          <a:solidFill>
            <a:srgbClr val="22D3EE">
              <a:alpha val="97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-914400" y="4572000"/>
            <a:ext cx="5486400" cy="5486400"/>
          </a:xfrm>
          <a:prstGeom prst="ellipse">
            <a:avLst/>
          </a:prstGeom>
          <a:solidFill>
            <a:srgbClr val="22D3EE">
              <a:alpha val="9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-228600" y="5257800"/>
            <a:ext cx="4114800" cy="4114800"/>
          </a:xfrm>
          <a:prstGeom prst="ellipse">
            <a:avLst/>
          </a:prstGeom>
          <a:solidFill>
            <a:srgbClr val="22D3EE">
              <a:alpha val="9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5943600"/>
            <a:ext cx="2743200" cy="2743200"/>
          </a:xfrm>
          <a:prstGeom prst="ellipse">
            <a:avLst/>
          </a:prstGeom>
          <a:solidFill>
            <a:srgbClr val="22D3EE">
              <a:alpha val="9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274320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743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AI ENGINE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6858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Student Recommendations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11480" y="138988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Gemini AI analyses every student's history to recommend their next exam intelligently.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1920240"/>
            <a:ext cx="2788920" cy="3200400"/>
          </a:xfrm>
          <a:prstGeom prst="roundRect">
            <a:avLst>
              <a:gd name="adj" fmla="val 4590"/>
            </a:avLst>
          </a:prstGeom>
          <a:solidFill>
            <a:srgbClr val="0D1528">
              <a:alpha val="3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" y="1714500"/>
            <a:ext cx="2057400" cy="2057400"/>
          </a:xfrm>
          <a:prstGeom prst="ellipse">
            <a:avLst/>
          </a:prstGeom>
          <a:solidFill>
            <a:srgbClr val="818CF8">
              <a:alpha val="9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1920240"/>
            <a:ext cx="1645920" cy="1645920"/>
          </a:xfrm>
          <a:prstGeom prst="ellipse">
            <a:avLst/>
          </a:prstGeom>
          <a:solidFill>
            <a:srgbClr val="818CF8">
              <a:alpha val="8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91540" y="2125980"/>
            <a:ext cx="1234440" cy="1234440"/>
          </a:xfrm>
          <a:prstGeom prst="ellipse">
            <a:avLst/>
          </a:prstGeom>
          <a:solidFill>
            <a:srgbClr val="818CF8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97280" y="2331720"/>
            <a:ext cx="822960" cy="822960"/>
          </a:xfrm>
          <a:prstGeom prst="ellipse">
            <a:avLst/>
          </a:prstGeom>
          <a:solidFill>
            <a:srgbClr val="818CF8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01168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818CF8">
              <a:alpha val="8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01168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242316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594360" y="3273552"/>
            <a:ext cx="2331720" cy="228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38328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History Intake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858768"/>
            <a:ext cx="2606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completes exams. Scores, time taken, correct answers recorded per topic.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37560" y="1920240"/>
            <a:ext cx="2788920" cy="3200400"/>
          </a:xfrm>
          <a:prstGeom prst="roundRect">
            <a:avLst>
              <a:gd name="adj" fmla="val 4590"/>
            </a:avLst>
          </a:prstGeom>
          <a:solidFill>
            <a:srgbClr val="0D1528">
              <a:alpha val="3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51860" y="1714500"/>
            <a:ext cx="2057400" cy="2057400"/>
          </a:xfrm>
          <a:prstGeom prst="ellipse">
            <a:avLst/>
          </a:prstGeom>
          <a:solidFill>
            <a:srgbClr val="A855F7">
              <a:alpha val="9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57600" y="1920240"/>
            <a:ext cx="1645920" cy="1645920"/>
          </a:xfrm>
          <a:prstGeom prst="ellipse">
            <a:avLst/>
          </a:prstGeom>
          <a:solidFill>
            <a:srgbClr val="A855F7">
              <a:alpha val="8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863340" y="2125980"/>
            <a:ext cx="1234440" cy="1234440"/>
          </a:xfrm>
          <a:prstGeom prst="ellipse">
            <a:avLst/>
          </a:prstGeom>
          <a:solidFill>
            <a:srgbClr val="A855F7">
              <a:alpha val="8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69080" y="2331720"/>
            <a:ext cx="822960" cy="822960"/>
          </a:xfrm>
          <a:prstGeom prst="ellipse">
            <a:avLst/>
          </a:prstGeom>
          <a:solidFill>
            <a:srgbClr val="A855F7">
              <a:alpha val="8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20440" y="201168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201168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37560" y="242316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3566160" y="3273552"/>
            <a:ext cx="2331720" cy="2286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5" name="Text 33"/>
          <p:cNvSpPr/>
          <p:nvPr/>
        </p:nvSpPr>
        <p:spPr>
          <a:xfrm>
            <a:off x="3429000" y="338328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Analysis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429000" y="3858768"/>
            <a:ext cx="2606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analyses topic affinities, weak areas, and performance trend over all results.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309360" y="1920240"/>
            <a:ext cx="2788920" cy="3200400"/>
          </a:xfrm>
          <a:prstGeom prst="roundRect">
            <a:avLst>
              <a:gd name="adj" fmla="val 4590"/>
            </a:avLst>
          </a:prstGeom>
          <a:solidFill>
            <a:srgbClr val="0D1528">
              <a:alpha val="3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23660" y="1714500"/>
            <a:ext cx="2057400" cy="2057400"/>
          </a:xfrm>
          <a:prstGeom prst="ellipse">
            <a:avLst/>
          </a:prstGeom>
          <a:solidFill>
            <a:srgbClr val="22D3EE">
              <a:alpha val="94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629400" y="1920240"/>
            <a:ext cx="1645920" cy="1645920"/>
          </a:xfrm>
          <a:prstGeom prst="ellipse">
            <a:avLst/>
          </a:prstGeom>
          <a:solidFill>
            <a:srgbClr val="22D3EE">
              <a:alpha val="8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835140" y="2125980"/>
            <a:ext cx="1234440" cy="1234440"/>
          </a:xfrm>
          <a:prstGeom prst="ellipse">
            <a:avLst/>
          </a:prstGeom>
          <a:solidFill>
            <a:srgbClr val="22D3EE">
              <a:alpha val="82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040880" y="2331720"/>
            <a:ext cx="822960" cy="822960"/>
          </a:xfrm>
          <a:prstGeom prst="ellipse">
            <a:avLst/>
          </a:prstGeom>
          <a:solidFill>
            <a:srgbClr val="22D3EE">
              <a:alpha val="8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92240" y="201168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22D3EE">
              <a:alpha val="8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201168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09360" y="242316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45" name="Shape 43"/>
          <p:cNvSpPr/>
          <p:nvPr/>
        </p:nvSpPr>
        <p:spPr>
          <a:xfrm>
            <a:off x="6537960" y="3273552"/>
            <a:ext cx="2331720" cy="228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0" y="338328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Match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400800" y="3858768"/>
            <a:ext cx="2606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 matches the student's profile to available exams by topics and difficulty.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281160" y="1920240"/>
            <a:ext cx="2788920" cy="3200400"/>
          </a:xfrm>
          <a:prstGeom prst="roundRect">
            <a:avLst>
              <a:gd name="adj" fmla="val 4590"/>
            </a:avLst>
          </a:prstGeom>
          <a:solidFill>
            <a:srgbClr val="0D1528">
              <a:alpha val="3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395460" y="1714500"/>
            <a:ext cx="2057400" cy="2057400"/>
          </a:xfrm>
          <a:prstGeom prst="ellipse">
            <a:avLst/>
          </a:prstGeom>
          <a:solidFill>
            <a:srgbClr val="34D399">
              <a:alpha val="94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601200" y="1920240"/>
            <a:ext cx="1645920" cy="1645920"/>
          </a:xfrm>
          <a:prstGeom prst="ellipse">
            <a:avLst/>
          </a:prstGeom>
          <a:solidFill>
            <a:srgbClr val="34D399">
              <a:alpha val="8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806940" y="2125980"/>
            <a:ext cx="1234440" cy="1234440"/>
          </a:xfrm>
          <a:prstGeom prst="ellipse">
            <a:avLst/>
          </a:prstGeom>
          <a:solidFill>
            <a:srgbClr val="34D399">
              <a:alpha val="82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012680" y="2331720"/>
            <a:ext cx="822960" cy="822960"/>
          </a:xfrm>
          <a:prstGeom prst="ellipse">
            <a:avLst/>
          </a:prstGeom>
          <a:solidFill>
            <a:srgbClr val="34D399">
              <a:alpha val="82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464040" y="201168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34D399">
              <a:alpha val="8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64040" y="201168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281160" y="242316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✨</a:t>
            </a:r>
            <a:endParaRPr lang="en-US" sz="2400" dirty="0"/>
          </a:p>
        </p:txBody>
      </p:sp>
      <p:sp>
        <p:nvSpPr>
          <p:cNvPr id="56" name="Shape 54"/>
          <p:cNvSpPr/>
          <p:nvPr/>
        </p:nvSpPr>
        <p:spPr>
          <a:xfrm>
            <a:off x="9509760" y="3273552"/>
            <a:ext cx="2331720" cy="228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7" name="Text 55"/>
          <p:cNvSpPr/>
          <p:nvPr/>
        </p:nvSpPr>
        <p:spPr>
          <a:xfrm>
            <a:off x="9372600" y="338328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Personalised Feed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372600" y="3858768"/>
            <a:ext cx="2606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dashboard shows recommended exams — always relevant, never generic.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3172968" y="31089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▶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144768" y="31089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▶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116568" y="31089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▶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365760" y="5349240"/>
            <a:ext cx="11475720" cy="1234440"/>
          </a:xfrm>
          <a:prstGeom prst="roundRect">
            <a:avLst>
              <a:gd name="adj" fmla="val 10370"/>
            </a:avLst>
          </a:prstGeom>
          <a:solidFill>
            <a:srgbClr val="0D1528">
              <a:alpha val="4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4360" y="5440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Admin Visibility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3840480" y="5586984"/>
            <a:ext cx="118872" cy="118872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5" name="Text 63"/>
          <p:cNvSpPr/>
          <p:nvPr/>
        </p:nvSpPr>
        <p:spPr>
          <a:xfrm>
            <a:off x="4041648" y="55046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Topic-level weak spots across student cohort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680960" y="5586984"/>
            <a:ext cx="118872" cy="118872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7" name="Text 65"/>
          <p:cNvSpPr/>
          <p:nvPr/>
        </p:nvSpPr>
        <p:spPr>
          <a:xfrm>
            <a:off x="7882128" y="55046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Per-student engagement and attempt frequency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3840480" y="6044184"/>
            <a:ext cx="118872" cy="118872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9" name="Text 67"/>
          <p:cNvSpPr/>
          <p:nvPr/>
        </p:nvSpPr>
        <p:spPr>
          <a:xfrm>
            <a:off x="4041648" y="59618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Cohort-wide pass/fail ratio by exam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7680960" y="6044184"/>
            <a:ext cx="118872" cy="118872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71" name="Text 69"/>
          <p:cNvSpPr/>
          <p:nvPr/>
        </p:nvSpPr>
        <p:spPr>
          <a:xfrm>
            <a:off x="7882128" y="59618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recommendation acceptance rate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6172200" y="228600"/>
            <a:ext cx="11430000" cy="11430000"/>
          </a:xfrm>
          <a:prstGeom prst="ellipse">
            <a:avLst/>
          </a:prstGeom>
          <a:solidFill>
            <a:srgbClr val="34D399">
              <a:alpha val="9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1371600"/>
            <a:ext cx="9144000" cy="9144000"/>
          </a:xfrm>
          <a:prstGeom prst="ellipse">
            <a:avLst/>
          </a:prstGeom>
          <a:solidFill>
            <a:srgbClr val="34D399">
              <a:alpha val="9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458200" y="2514600"/>
            <a:ext cx="6858000" cy="6858000"/>
          </a:xfrm>
          <a:prstGeom prst="ellipse">
            <a:avLst/>
          </a:prstGeom>
          <a:solidFill>
            <a:srgbClr val="34D399">
              <a:alpha val="91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601200" y="3657600"/>
            <a:ext cx="4572000" cy="4572000"/>
          </a:xfrm>
          <a:prstGeom prst="ellipse">
            <a:avLst/>
          </a:prstGeom>
          <a:solidFill>
            <a:srgbClr val="34D399">
              <a:alpha val="91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274320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34D399">
              <a:alpha val="8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743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ADMIN ANALYTICS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6858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Results &amp; Analytics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11480" y="138988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High-level workspace intelligence — aggregated exam performance at a glance.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874520"/>
            <a:ext cx="3749040" cy="1508760"/>
          </a:xfrm>
          <a:prstGeom prst="roundRect">
            <a:avLst>
              <a:gd name="adj" fmla="val 8485"/>
            </a:avLst>
          </a:prstGeom>
          <a:solidFill>
            <a:srgbClr val="0D1528">
              <a:alpha val="4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88920" y="1371600"/>
            <a:ext cx="2286000" cy="2286000"/>
          </a:xfrm>
          <a:prstGeom prst="ellipse">
            <a:avLst/>
          </a:prstGeom>
          <a:solidFill>
            <a:srgbClr val="818CF8">
              <a:alpha val="9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017520" y="1600200"/>
            <a:ext cx="1828800" cy="1828800"/>
          </a:xfrm>
          <a:prstGeom prst="ellipse">
            <a:avLst/>
          </a:prstGeom>
          <a:solidFill>
            <a:srgbClr val="818CF8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246120" y="1828800"/>
            <a:ext cx="1371600" cy="1371600"/>
          </a:xfrm>
          <a:prstGeom prst="ellipse">
            <a:avLst/>
          </a:prstGeom>
          <a:solidFill>
            <a:srgbClr val="818CF8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474720" y="2057400"/>
            <a:ext cx="914400" cy="914400"/>
          </a:xfrm>
          <a:prstGeom prst="ellipse">
            <a:avLst/>
          </a:prstGeom>
          <a:solidFill>
            <a:srgbClr val="818CF8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34440" y="203911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1,248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234440" y="2697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Attempts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70832" y="1874520"/>
            <a:ext cx="3749040" cy="1508760"/>
          </a:xfrm>
          <a:prstGeom prst="roundRect">
            <a:avLst>
              <a:gd name="adj" fmla="val 8485"/>
            </a:avLst>
          </a:prstGeom>
          <a:solidFill>
            <a:srgbClr val="0D1528">
              <a:alpha val="4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3992" y="1371600"/>
            <a:ext cx="2286000" cy="2286000"/>
          </a:xfrm>
          <a:prstGeom prst="ellipse">
            <a:avLst/>
          </a:prstGeom>
          <a:solidFill>
            <a:srgbClr val="34D399">
              <a:alpha val="9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022592" y="1600200"/>
            <a:ext cx="1828800" cy="1828800"/>
          </a:xfrm>
          <a:prstGeom prst="ellipse">
            <a:avLst/>
          </a:prstGeom>
          <a:solidFill>
            <a:srgbClr val="34D399">
              <a:alpha val="9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251192" y="1828800"/>
            <a:ext cx="1371600" cy="1371600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479792" y="2057400"/>
            <a:ext cx="914400" cy="914400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553712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239512" y="203911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74.3 %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239512" y="2697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Avg. Score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75904" y="1874520"/>
            <a:ext cx="3749040" cy="1508760"/>
          </a:xfrm>
          <a:prstGeom prst="roundRect">
            <a:avLst>
              <a:gd name="adj" fmla="val 8485"/>
            </a:avLst>
          </a:prstGeom>
          <a:solidFill>
            <a:srgbClr val="0D1528">
              <a:alpha val="4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99064" y="1371600"/>
            <a:ext cx="2286000" cy="2286000"/>
          </a:xfrm>
          <a:prstGeom prst="ellipse">
            <a:avLst/>
          </a:prstGeom>
          <a:solidFill>
            <a:srgbClr val="34D399">
              <a:alpha val="9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027664" y="1600200"/>
            <a:ext cx="1828800" cy="1828800"/>
          </a:xfrm>
          <a:prstGeom prst="ellipse">
            <a:avLst/>
          </a:prstGeom>
          <a:solidFill>
            <a:srgbClr val="34D399">
              <a:alpha val="9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256264" y="1828800"/>
            <a:ext cx="1371600" cy="1371600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484864" y="2057400"/>
            <a:ext cx="914400" cy="914400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558784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244584" y="203911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89 %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9244584" y="2697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 Rate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3749040"/>
            <a:ext cx="3749040" cy="1508760"/>
          </a:xfrm>
          <a:prstGeom prst="roundRect">
            <a:avLst>
              <a:gd name="adj" fmla="val 8485"/>
            </a:avLst>
          </a:prstGeom>
          <a:solidFill>
            <a:srgbClr val="0D1528">
              <a:alpha val="4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88920" y="3246120"/>
            <a:ext cx="2286000" cy="2286000"/>
          </a:xfrm>
          <a:prstGeom prst="ellipse">
            <a:avLst/>
          </a:prstGeom>
          <a:solidFill>
            <a:srgbClr val="FBBF24">
              <a:alpha val="9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017520" y="3474720"/>
            <a:ext cx="1828800" cy="1828800"/>
          </a:xfrm>
          <a:prstGeom prst="ellipse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246120" y="3703320"/>
            <a:ext cx="1371600" cy="1371600"/>
          </a:xfrm>
          <a:prstGeom prst="ellipse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474720" y="3931920"/>
            <a:ext cx="914400" cy="914400"/>
          </a:xfrm>
          <a:prstGeom prst="ellipse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3931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234440" y="391363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 min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1234440" y="4572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Avg. Time Taken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370832" y="3749040"/>
            <a:ext cx="3749040" cy="1508760"/>
          </a:xfrm>
          <a:prstGeom prst="roundRect">
            <a:avLst>
              <a:gd name="adj" fmla="val 8485"/>
            </a:avLst>
          </a:prstGeom>
          <a:solidFill>
            <a:srgbClr val="0D1528">
              <a:alpha val="4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93992" y="3246120"/>
            <a:ext cx="2286000" cy="2286000"/>
          </a:xfrm>
          <a:prstGeom prst="ellipse">
            <a:avLst/>
          </a:prstGeom>
          <a:solidFill>
            <a:srgbClr val="22D3EE">
              <a:alpha val="9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022592" y="3474720"/>
            <a:ext cx="1828800" cy="1828800"/>
          </a:xfrm>
          <a:prstGeom prst="ellipse">
            <a:avLst/>
          </a:prstGeom>
          <a:solidFill>
            <a:srgbClr val="22D3EE">
              <a:alpha val="9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251192" y="3703320"/>
            <a:ext cx="1371600" cy="1371600"/>
          </a:xfrm>
          <a:prstGeom prst="ellipse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479792" y="3931920"/>
            <a:ext cx="914400" cy="914400"/>
          </a:xfrm>
          <a:prstGeom prst="ellipse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553712" y="3931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5239512" y="391363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312</a:t>
            </a:r>
            <a:endParaRPr lang="en-US" sz="2600" dirty="0"/>
          </a:p>
        </p:txBody>
      </p:sp>
      <p:sp>
        <p:nvSpPr>
          <p:cNvPr id="50" name="Text 48"/>
          <p:cNvSpPr/>
          <p:nvPr/>
        </p:nvSpPr>
        <p:spPr>
          <a:xfrm>
            <a:off x="5239512" y="4572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Enrolled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375904" y="3749040"/>
            <a:ext cx="3749040" cy="1508760"/>
          </a:xfrm>
          <a:prstGeom prst="roundRect">
            <a:avLst>
              <a:gd name="adj" fmla="val 8485"/>
            </a:avLst>
          </a:prstGeom>
          <a:solidFill>
            <a:srgbClr val="0D1528">
              <a:alpha val="4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799064" y="3246120"/>
            <a:ext cx="2286000" cy="2286000"/>
          </a:xfrm>
          <a:prstGeom prst="ellipse">
            <a:avLst/>
          </a:prstGeom>
          <a:solidFill>
            <a:srgbClr val="A855F7">
              <a:alpha val="9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027664" y="3474720"/>
            <a:ext cx="1828800" cy="1828800"/>
          </a:xfrm>
          <a:prstGeom prst="ellipse">
            <a:avLst/>
          </a:prstGeom>
          <a:solidFill>
            <a:srgbClr val="A855F7">
              <a:alpha val="9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1256264" y="3703320"/>
            <a:ext cx="1371600" cy="1371600"/>
          </a:xfrm>
          <a:prstGeom prst="ellipse">
            <a:avLst/>
          </a:prstGeom>
          <a:solidFill>
            <a:srgbClr val="A855F7">
              <a:alpha val="8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1484864" y="3931920"/>
            <a:ext cx="914400" cy="914400"/>
          </a:xfrm>
          <a:prstGeom prst="ellipse">
            <a:avLst/>
          </a:prstGeom>
          <a:solidFill>
            <a:srgbClr val="A855F7">
              <a:alpha val="85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8558784" y="3931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9244584" y="391363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2600" dirty="0"/>
          </a:p>
        </p:txBody>
      </p:sp>
      <p:sp>
        <p:nvSpPr>
          <p:cNvPr id="58" name="Text 56"/>
          <p:cNvSpPr/>
          <p:nvPr/>
        </p:nvSpPr>
        <p:spPr>
          <a:xfrm>
            <a:off x="9244584" y="4572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Exams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65760" y="5486400"/>
            <a:ext cx="11475720" cy="1143000"/>
          </a:xfrm>
          <a:prstGeom prst="roundRect">
            <a:avLst>
              <a:gd name="adj" fmla="val 11200"/>
            </a:avLst>
          </a:prstGeom>
          <a:solidFill>
            <a:srgbClr val="0D1528">
              <a:alpha val="40000"/>
            </a:srgbClr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55595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Teacher sees per-exam: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749040" y="55595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Student Name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120640" y="55595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Score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492240" y="55595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% Score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863840" y="55595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Pass/Fail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9235440" y="55595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Time Taken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607040" y="55595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Submission Date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48640" y="5989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results exported on-demand  ·  Filterable by exam, date, or student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-1097280" y="-3200400"/>
            <a:ext cx="18288000" cy="18288000"/>
          </a:xfrm>
          <a:prstGeom prst="ellipse">
            <a:avLst/>
          </a:prstGeom>
          <a:solidFill>
            <a:srgbClr val="818CF8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-1371600"/>
            <a:ext cx="14630400" cy="14630400"/>
          </a:xfrm>
          <a:prstGeom prst="ellipse">
            <a:avLst/>
          </a:prstGeom>
          <a:solidFill>
            <a:srgbClr val="818CF8">
              <a:alpha val="91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560320" y="457200"/>
            <a:ext cx="10972800" cy="10972800"/>
          </a:xfrm>
          <a:prstGeom prst="ellipse">
            <a:avLst/>
          </a:prstGeom>
          <a:solidFill>
            <a:srgbClr val="818CF8">
              <a:alpha val="8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2286000"/>
            <a:ext cx="7315200" cy="7315200"/>
          </a:xfrm>
          <a:prstGeom prst="ellipse">
            <a:avLst/>
          </a:prstGeom>
          <a:solidFill>
            <a:srgbClr val="818CF8">
              <a:alpha val="8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57900" y="1485900"/>
            <a:ext cx="10287000" cy="10287000"/>
          </a:xfrm>
          <a:prstGeom prst="ellipse">
            <a:avLst/>
          </a:prstGeom>
          <a:solidFill>
            <a:srgbClr val="A855F7">
              <a:alpha val="97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086600" y="2514600"/>
            <a:ext cx="8229600" cy="8229600"/>
          </a:xfrm>
          <a:prstGeom prst="ellipse">
            <a:avLst/>
          </a:prstGeom>
          <a:solidFill>
            <a:srgbClr val="A855F7">
              <a:alpha val="93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115300" y="3543300"/>
            <a:ext cx="6172200" cy="6172200"/>
          </a:xfrm>
          <a:prstGeom prst="ellipse">
            <a:avLst/>
          </a:prstGeom>
          <a:solidFill>
            <a:srgbClr val="A855F7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0" y="4572000"/>
            <a:ext cx="4114800" cy="4114800"/>
          </a:xfrm>
          <a:prstGeom prst="ellipse">
            <a:avLst/>
          </a:prstGeom>
          <a:solidFill>
            <a:srgbClr val="A855F7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-1600200" y="3429000"/>
            <a:ext cx="6858000" cy="6858000"/>
          </a:xfrm>
          <a:prstGeom prst="ellipse">
            <a:avLst/>
          </a:prstGeom>
          <a:solidFill>
            <a:srgbClr val="22D3EE">
              <a:alpha val="97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-914400" y="4114800"/>
            <a:ext cx="5486400" cy="5486400"/>
          </a:xfrm>
          <a:prstGeom prst="ellipse">
            <a:avLst/>
          </a:prstGeom>
          <a:solidFill>
            <a:srgbClr val="22D3EE">
              <a:alpha val="9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-228600" y="4800600"/>
            <a:ext cx="4114800" cy="4114800"/>
          </a:xfrm>
          <a:prstGeom prst="ellipse">
            <a:avLst/>
          </a:prstGeom>
          <a:solidFill>
            <a:srgbClr val="22D3EE">
              <a:alpha val="9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5486400"/>
            <a:ext cx="2743200" cy="2743200"/>
          </a:xfrm>
          <a:prstGeom prst="ellipse">
            <a:avLst/>
          </a:prstGeom>
          <a:solidFill>
            <a:srgbClr val="22D3EE">
              <a:alpha val="9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FFFFFF">
              <a:alpha val="9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FFFFFF">
              <a:alpha val="9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FFFFFF">
              <a:alpha val="9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FFFFFF">
              <a:alpha val="9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FFFFFF">
              <a:alpha val="9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FFFFFF">
              <a:alpha val="9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FFFFFF">
              <a:alpha val="9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FFFFFF">
              <a:alpha val="9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FFFFFF">
              <a:alpha val="9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FFFFFF">
              <a:alpha val="9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FFFFFF">
              <a:alpha val="9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FFFFFF">
              <a:alpha val="9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FFFFFF">
              <a:alpha val="9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FFFFFF">
              <a:alpha val="9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10058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 to Elevate Your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31520" y="18745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 Operations?</a:t>
            </a:r>
            <a:endParaRPr lang="en-US" sz="4000" dirty="0"/>
          </a:p>
        </p:txBody>
      </p:sp>
      <p:sp>
        <p:nvSpPr>
          <p:cNvPr id="31" name="Shape 29"/>
          <p:cNvSpPr/>
          <p:nvPr/>
        </p:nvSpPr>
        <p:spPr>
          <a:xfrm>
            <a:off x="3200400" y="2926080"/>
            <a:ext cx="5788152" cy="228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2" name="Text 30"/>
          <p:cNvSpPr/>
          <p:nvPr/>
        </p:nvSpPr>
        <p:spPr>
          <a:xfrm>
            <a:off x="1371600" y="3108960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ABCD Exam Hub combines every tool a workspace admin needs</a:t>
            </a:r>
            <a:endParaRPr lang="en-US" sz="14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run fair, smart, and scalable online examinations.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3566160" y="4343400"/>
            <a:ext cx="5029200" cy="749808"/>
          </a:xfrm>
          <a:prstGeom prst="roundRect">
            <a:avLst>
              <a:gd name="adj" fmla="val 14634"/>
            </a:avLst>
          </a:prstGeom>
          <a:ln/>
        </p:spPr>
      </p:sp>
      <p:sp>
        <p:nvSpPr>
          <p:cNvPr id="34" name="Text 32"/>
          <p:cNvSpPr/>
          <p:nvPr/>
        </p:nvSpPr>
        <p:spPr>
          <a:xfrm>
            <a:off x="3566160" y="4343400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 Request Workspace Access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57200" y="5394960"/>
            <a:ext cx="2743200" cy="347472"/>
          </a:xfrm>
          <a:prstGeom prst="roundRect">
            <a:avLst>
              <a:gd name="adj" fmla="val 15789"/>
            </a:avLst>
          </a:prstGeom>
          <a:solidFill>
            <a:srgbClr val="111827">
              <a:alpha val="25000"/>
            </a:srgbClr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53949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Exam Builder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56432" y="5394960"/>
            <a:ext cx="2743200" cy="347472"/>
          </a:xfrm>
          <a:prstGeom prst="roundRect">
            <a:avLst>
              <a:gd name="adj" fmla="val 15789"/>
            </a:avLst>
          </a:prstGeom>
          <a:solidFill>
            <a:srgbClr val="111827">
              <a:alpha val="25000"/>
            </a:srgbClr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56432" y="53949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AI MCQ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55664" y="5394960"/>
            <a:ext cx="2743200" cy="347472"/>
          </a:xfrm>
          <a:prstGeom prst="roundRect">
            <a:avLst>
              <a:gd name="adj" fmla="val 15789"/>
            </a:avLst>
          </a:prstGeom>
          <a:solidFill>
            <a:srgbClr val="111827">
              <a:alpha val="25000"/>
            </a:srgbClr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55664" y="53949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Draft Save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454896" y="5394960"/>
            <a:ext cx="2743200" cy="347472"/>
          </a:xfrm>
          <a:prstGeom prst="roundRect">
            <a:avLst>
              <a:gd name="adj" fmla="val 15789"/>
            </a:avLst>
          </a:prstGeom>
          <a:solidFill>
            <a:srgbClr val="111827">
              <a:alpha val="25000"/>
            </a:srgbClr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54896" y="53949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Negative Marks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5870448"/>
            <a:ext cx="2743200" cy="347472"/>
          </a:xfrm>
          <a:prstGeom prst="roundRect">
            <a:avLst>
              <a:gd name="adj" fmla="val 15789"/>
            </a:avLst>
          </a:prstGeom>
          <a:solidFill>
            <a:srgbClr val="111827">
              <a:alpha val="25000"/>
            </a:srgbClr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58704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Result Engine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456432" y="5870448"/>
            <a:ext cx="2743200" cy="347472"/>
          </a:xfrm>
          <a:prstGeom prst="roundRect">
            <a:avLst>
              <a:gd name="adj" fmla="val 15789"/>
            </a:avLst>
          </a:prstGeom>
          <a:solidFill>
            <a:srgbClr val="111827">
              <a:alpha val="25000"/>
            </a:srgbClr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56432" y="58704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Tab Guard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55664" y="5870448"/>
            <a:ext cx="2743200" cy="347472"/>
          </a:xfrm>
          <a:prstGeom prst="roundRect">
            <a:avLst>
              <a:gd name="adj" fmla="val 15789"/>
            </a:avLst>
          </a:prstGeom>
          <a:solidFill>
            <a:srgbClr val="111827">
              <a:alpha val="25000"/>
            </a:srgbClr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55664" y="58704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3 Publish Modes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454896" y="5870448"/>
            <a:ext cx="2743200" cy="347472"/>
          </a:xfrm>
          <a:prstGeom prst="roundRect">
            <a:avLst>
              <a:gd name="adj" fmla="val 15789"/>
            </a:avLst>
          </a:prstGeom>
          <a:solidFill>
            <a:srgbClr val="111827">
              <a:alpha val="25000"/>
            </a:srgbClr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454896" y="58704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Analytics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abcdexamhub.app  ·  Contact your Super Admin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ABCD Exam Hub – Feature Showcase</dc:title>
  <dc:subject>Exam &amp; Results Management Platform</dc:subject>
  <dc:creator>ABCD Exam Hub</dc:creator>
  <cp:lastModifiedBy>ABCD Exam Hub</cp:lastModifiedBy>
  <cp:revision>1</cp:revision>
  <dcterms:created xsi:type="dcterms:W3CDTF">2026-03-24T04:53:11Z</dcterms:created>
  <dcterms:modified xsi:type="dcterms:W3CDTF">2026-03-24T04:53:11Z</dcterms:modified>
</cp:coreProperties>
</file>